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401800" cy="8102600"/>
  <p:notesSz cx="14401800" cy="8102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89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9259" y="2199111"/>
            <a:ext cx="9781540" cy="210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60270" y="4537456"/>
            <a:ext cx="10081260" cy="202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0090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416927" y="1863598"/>
            <a:ext cx="6264783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401800" cy="8096250"/>
          </a:xfrm>
          <a:custGeom>
            <a:avLst/>
            <a:gdLst/>
            <a:ahLst/>
            <a:cxnLst/>
            <a:rect l="l" t="t" r="r" b="b"/>
            <a:pathLst>
              <a:path w="14401800" h="8096250">
                <a:moveTo>
                  <a:pt x="14401798" y="8096249"/>
                </a:moveTo>
                <a:lnTo>
                  <a:pt x="0" y="8096249"/>
                </a:lnTo>
                <a:lnTo>
                  <a:pt x="0" y="0"/>
                </a:lnTo>
                <a:lnTo>
                  <a:pt x="14401798" y="0"/>
                </a:lnTo>
                <a:lnTo>
                  <a:pt x="14401798" y="8096249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5597" y="957505"/>
            <a:ext cx="8474710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090" y="1863598"/>
            <a:ext cx="12961620" cy="5347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6612" y="7535418"/>
            <a:ext cx="4608576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0090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69296" y="7535418"/>
            <a:ext cx="3312414" cy="405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niclehq.com/?utm_source=pdf_export&amp;utm_content=made_in_chronicl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roniclehq.com/?utm_source=pdf_export&amp;utm_content=made_in_chronicle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457200" marR="5080" indent="-445134">
              <a:lnSpc>
                <a:spcPct val="78900"/>
              </a:lnSpc>
              <a:spcBef>
                <a:spcPts val="2055"/>
              </a:spcBef>
            </a:pPr>
            <a:r>
              <a:rPr sz="7600" spc="-360" dirty="0"/>
              <a:t>Hospital</a:t>
            </a:r>
            <a:r>
              <a:rPr sz="7600" spc="-1210" dirty="0"/>
              <a:t> </a:t>
            </a:r>
            <a:r>
              <a:rPr sz="7600" spc="-590" dirty="0"/>
              <a:t>W</a:t>
            </a:r>
            <a:r>
              <a:rPr sz="7600" spc="-409" dirty="0"/>
              <a:t>e</a:t>
            </a:r>
            <a:r>
              <a:rPr sz="7600" spc="-385" dirty="0"/>
              <a:t>b</a:t>
            </a:r>
            <a:r>
              <a:rPr sz="7600" spc="-405" dirty="0"/>
              <a:t>s</a:t>
            </a:r>
            <a:r>
              <a:rPr sz="7600" spc="-375" dirty="0"/>
              <a:t>i</a:t>
            </a:r>
            <a:r>
              <a:rPr sz="7600" spc="-370" dirty="0"/>
              <a:t>t</a:t>
            </a:r>
            <a:r>
              <a:rPr sz="7600" spc="-80" dirty="0"/>
              <a:t>e</a:t>
            </a:r>
            <a:r>
              <a:rPr sz="7600" spc="-1265" dirty="0"/>
              <a:t> </a:t>
            </a:r>
            <a:r>
              <a:rPr sz="7600" spc="-300" dirty="0"/>
              <a:t>Auditing </a:t>
            </a:r>
            <a:r>
              <a:rPr sz="6800" spc="185" dirty="0"/>
              <a:t>–</a:t>
            </a:r>
            <a:r>
              <a:rPr sz="6800" spc="-875" dirty="0"/>
              <a:t> </a:t>
            </a:r>
            <a:r>
              <a:rPr sz="7600" spc="-360" dirty="0"/>
              <a:t>Best</a:t>
            </a:r>
            <a:r>
              <a:rPr sz="7600" spc="-1095" dirty="0"/>
              <a:t> </a:t>
            </a:r>
            <a:r>
              <a:rPr sz="7600" spc="-380" dirty="0"/>
              <a:t>Hospitals</a:t>
            </a:r>
            <a:r>
              <a:rPr sz="7600" spc="-1095" dirty="0"/>
              <a:t> </a:t>
            </a:r>
            <a:r>
              <a:rPr sz="7600" spc="-260" dirty="0"/>
              <a:t>in</a:t>
            </a:r>
            <a:r>
              <a:rPr sz="7600" spc="-1090" dirty="0"/>
              <a:t> </a:t>
            </a:r>
            <a:r>
              <a:rPr sz="7600" spc="-425" dirty="0"/>
              <a:t>India</a:t>
            </a:r>
            <a:endParaRPr sz="7600"/>
          </a:p>
        </p:txBody>
      </p:sp>
      <p:sp>
        <p:nvSpPr>
          <p:cNvPr id="3" name="object 3"/>
          <p:cNvSpPr txBox="1"/>
          <p:nvPr/>
        </p:nvSpPr>
        <p:spPr>
          <a:xfrm>
            <a:off x="6173638" y="4563138"/>
            <a:ext cx="205613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50" dirty="0">
                <a:solidFill>
                  <a:srgbClr val="F2F2F2"/>
                </a:solidFill>
                <a:latin typeface="Arial MT"/>
                <a:cs typeface="Arial MT"/>
              </a:rPr>
              <a:t>Se</a:t>
            </a:r>
            <a:r>
              <a:rPr sz="1550" spc="-50" dirty="0">
                <a:solidFill>
                  <a:srgbClr val="F2F2F2"/>
                </a:solidFill>
                <a:latin typeface="Tahoma"/>
                <a:cs typeface="Tahoma"/>
              </a:rPr>
              <a:t>l</a:t>
            </a:r>
            <a:r>
              <a:rPr sz="1600" spc="-5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50" dirty="0">
                <a:solidFill>
                  <a:srgbClr val="F2F2F2"/>
                </a:solidFill>
                <a:latin typeface="Sitka Text"/>
                <a:cs typeface="Sitka Text"/>
              </a:rPr>
              <a:t>-</a:t>
            </a:r>
            <a:r>
              <a:rPr sz="1600" spc="-75" dirty="0">
                <a:solidFill>
                  <a:srgbClr val="F2F2F2"/>
                </a:solidFill>
                <a:latin typeface="Arial MT"/>
                <a:cs typeface="Arial MT"/>
              </a:rPr>
              <a:t>Lea</a:t>
            </a:r>
            <a:r>
              <a:rPr sz="1550" spc="-75" dirty="0">
                <a:solidFill>
                  <a:srgbClr val="F2F2F2"/>
                </a:solidFill>
                <a:latin typeface="Tahoma"/>
                <a:cs typeface="Tahoma"/>
              </a:rPr>
              <a:t>rn</a:t>
            </a:r>
            <a:r>
              <a:rPr sz="1600" spc="-7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550" spc="-75" dirty="0">
                <a:solidFill>
                  <a:srgbClr val="F2F2F2"/>
                </a:solidFill>
                <a:latin typeface="Tahoma"/>
                <a:cs typeface="Tahoma"/>
              </a:rPr>
              <a:t>n</a:t>
            </a:r>
            <a:r>
              <a:rPr sz="1600" spc="-7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6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F2F2F2"/>
                </a:solidFill>
                <a:latin typeface="Arial MT"/>
                <a:cs typeface="Arial MT"/>
              </a:rPr>
              <a:t>Web </a:t>
            </a:r>
            <a:r>
              <a:rPr sz="1600" spc="-1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550" spc="-10" dirty="0">
                <a:solidFill>
                  <a:srgbClr val="F2F2F2"/>
                </a:solidFill>
                <a:latin typeface="Tahoma"/>
                <a:cs typeface="Tahoma"/>
              </a:rPr>
              <a:t>u</a:t>
            </a:r>
            <a:r>
              <a:rPr sz="1600" spc="-10" dirty="0">
                <a:solidFill>
                  <a:srgbClr val="F2F2F2"/>
                </a:solidFill>
                <a:latin typeface="Arial MT"/>
                <a:cs typeface="Arial MT"/>
              </a:rPr>
              <a:t>di</a:t>
            </a:r>
            <a:r>
              <a:rPr sz="1550" spc="-10" dirty="0">
                <a:solidFill>
                  <a:srgbClr val="F2F2F2"/>
                </a:solidFill>
                <a:latin typeface="Tahoma"/>
                <a:cs typeface="Tahoma"/>
              </a:rPr>
              <a:t>t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9438" y="528880"/>
            <a:ext cx="5153660" cy="1752600"/>
          </a:xfrm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385"/>
              </a:spcBef>
            </a:pPr>
            <a:r>
              <a:rPr sz="5150" spc="-190" dirty="0"/>
              <a:t>Project</a:t>
            </a:r>
            <a:r>
              <a:rPr sz="5150" spc="-345" dirty="0"/>
              <a:t> </a:t>
            </a:r>
            <a:r>
              <a:rPr sz="5150" spc="-60" dirty="0"/>
              <a:t>Outline</a:t>
            </a:r>
            <a:endParaRPr sz="5150"/>
          </a:p>
          <a:p>
            <a:pPr marL="12065" marR="5080" algn="ctr">
              <a:lnSpc>
                <a:spcPts val="1950"/>
              </a:lnSpc>
              <a:spcBef>
                <a:spcPts val="1235"/>
              </a:spcBef>
            </a:pPr>
            <a:r>
              <a:rPr sz="1950" spc="-80" dirty="0"/>
              <a:t>Thi</a:t>
            </a:r>
            <a:r>
              <a:rPr sz="1900" spc="-80" dirty="0"/>
              <a:t>s</a:t>
            </a:r>
            <a:r>
              <a:rPr sz="1900" spc="-85" dirty="0"/>
              <a:t> </a:t>
            </a:r>
            <a:r>
              <a:rPr sz="1900" spc="-35" dirty="0"/>
              <a:t>s</a:t>
            </a:r>
            <a:r>
              <a:rPr sz="1950" spc="-35" dirty="0"/>
              <a:t>e</a:t>
            </a:r>
            <a:r>
              <a:rPr sz="1900" spc="-35" dirty="0"/>
              <a:t>l</a:t>
            </a:r>
            <a:r>
              <a:rPr sz="1950" spc="-35" dirty="0"/>
              <a:t>f</a:t>
            </a:r>
            <a:r>
              <a:rPr sz="1700" spc="-35" dirty="0">
                <a:latin typeface="Sylfaen"/>
                <a:cs typeface="Sylfaen"/>
              </a:rPr>
              <a:t>-</a:t>
            </a:r>
            <a:r>
              <a:rPr sz="1900" spc="-65" dirty="0"/>
              <a:t>l</a:t>
            </a:r>
            <a:r>
              <a:rPr sz="1950" spc="-65" dirty="0"/>
              <a:t>ea</a:t>
            </a:r>
            <a:r>
              <a:rPr sz="1900" spc="-65" dirty="0"/>
              <a:t>rn</a:t>
            </a:r>
            <a:r>
              <a:rPr sz="1950" spc="-65" dirty="0"/>
              <a:t>i</a:t>
            </a:r>
            <a:r>
              <a:rPr sz="1900" spc="-65" dirty="0"/>
              <a:t>n</a:t>
            </a:r>
            <a:r>
              <a:rPr sz="1950" spc="-65" dirty="0"/>
              <a:t>g</a:t>
            </a:r>
            <a:r>
              <a:rPr sz="1950" spc="-100" dirty="0"/>
              <a:t> </a:t>
            </a:r>
            <a:r>
              <a:rPr sz="1950" spc="-50" dirty="0"/>
              <a:t>a</a:t>
            </a:r>
            <a:r>
              <a:rPr sz="1900" spc="-50" dirty="0"/>
              <a:t>u</a:t>
            </a:r>
            <a:r>
              <a:rPr sz="1950" spc="-50" dirty="0"/>
              <a:t>di</a:t>
            </a:r>
            <a:r>
              <a:rPr sz="1900" spc="-50" dirty="0"/>
              <a:t>t</a:t>
            </a:r>
            <a:r>
              <a:rPr sz="1900" spc="-80" dirty="0"/>
              <a:t> </a:t>
            </a:r>
            <a:r>
              <a:rPr sz="1950" spc="-100" dirty="0"/>
              <a:t>e</a:t>
            </a:r>
            <a:r>
              <a:rPr sz="1900" spc="-100" dirty="0"/>
              <a:t>x</a:t>
            </a:r>
            <a:r>
              <a:rPr sz="1950" spc="-100" dirty="0"/>
              <a:t>a</a:t>
            </a:r>
            <a:r>
              <a:rPr sz="1900" spc="-100" dirty="0"/>
              <a:t>m</a:t>
            </a:r>
            <a:r>
              <a:rPr sz="1950" spc="-100" dirty="0"/>
              <a:t>i</a:t>
            </a:r>
            <a:r>
              <a:rPr sz="1900" spc="-100" dirty="0"/>
              <a:t>n</a:t>
            </a:r>
            <a:r>
              <a:rPr sz="1950" spc="-100" dirty="0"/>
              <a:t>ed</a:t>
            </a:r>
            <a:r>
              <a:rPr sz="1950" spc="-130" dirty="0"/>
              <a:t> </a:t>
            </a:r>
            <a:r>
              <a:rPr sz="1900" spc="-55" dirty="0"/>
              <a:t>t</a:t>
            </a:r>
            <a:r>
              <a:rPr sz="1950" spc="-55" dirty="0"/>
              <a:t>he</a:t>
            </a:r>
            <a:r>
              <a:rPr sz="1950" spc="-130" dirty="0"/>
              <a:t> </a:t>
            </a:r>
            <a:r>
              <a:rPr sz="1900" dirty="0"/>
              <a:t>top</a:t>
            </a:r>
            <a:r>
              <a:rPr sz="1900" spc="-85" dirty="0"/>
              <a:t> </a:t>
            </a:r>
            <a:r>
              <a:rPr sz="1900" dirty="0"/>
              <a:t>3</a:t>
            </a:r>
            <a:r>
              <a:rPr sz="1900" spc="-80" dirty="0"/>
              <a:t> </a:t>
            </a:r>
            <a:r>
              <a:rPr sz="1950" spc="-45" dirty="0"/>
              <a:t>h</a:t>
            </a:r>
            <a:r>
              <a:rPr sz="1900" spc="-45" dirty="0"/>
              <a:t>osp</a:t>
            </a:r>
            <a:r>
              <a:rPr sz="1950" spc="-45" dirty="0"/>
              <a:t>i</a:t>
            </a:r>
            <a:r>
              <a:rPr sz="1900" spc="-45" dirty="0"/>
              <a:t>t</a:t>
            </a:r>
            <a:r>
              <a:rPr sz="1950" spc="-45" dirty="0"/>
              <a:t>a</a:t>
            </a:r>
            <a:r>
              <a:rPr sz="1900" spc="-45" dirty="0"/>
              <a:t>l </a:t>
            </a:r>
            <a:r>
              <a:rPr sz="1900" spc="-55" dirty="0"/>
              <a:t>w</a:t>
            </a:r>
            <a:r>
              <a:rPr sz="1950" spc="-55" dirty="0"/>
              <a:t>eb</a:t>
            </a:r>
            <a:r>
              <a:rPr sz="1900" spc="-55" dirty="0"/>
              <a:t>s</a:t>
            </a:r>
            <a:r>
              <a:rPr sz="1950" spc="-55" dirty="0"/>
              <a:t>i</a:t>
            </a:r>
            <a:r>
              <a:rPr sz="1900" spc="-55" dirty="0"/>
              <a:t>t</a:t>
            </a:r>
            <a:r>
              <a:rPr sz="1950" spc="-55" dirty="0"/>
              <a:t>e</a:t>
            </a:r>
            <a:r>
              <a:rPr sz="1900" spc="-55" dirty="0"/>
              <a:t>s</a:t>
            </a:r>
            <a:r>
              <a:rPr sz="1900" spc="-75" dirty="0"/>
              <a:t> </a:t>
            </a:r>
            <a:r>
              <a:rPr sz="1900" spc="-70" dirty="0"/>
              <a:t>r</a:t>
            </a:r>
            <a:r>
              <a:rPr sz="1950" spc="-70" dirty="0"/>
              <a:t>a</a:t>
            </a:r>
            <a:r>
              <a:rPr sz="1900" spc="-70" dirty="0"/>
              <a:t>nk</a:t>
            </a:r>
            <a:r>
              <a:rPr sz="1950" spc="-70" dirty="0"/>
              <a:t>i</a:t>
            </a:r>
            <a:r>
              <a:rPr sz="1900" spc="-70" dirty="0"/>
              <a:t>n</a:t>
            </a:r>
            <a:r>
              <a:rPr sz="1950" spc="-70" dirty="0"/>
              <a:t>g</a:t>
            </a:r>
            <a:r>
              <a:rPr sz="1950" spc="-90" dirty="0"/>
              <a:t> </a:t>
            </a:r>
            <a:r>
              <a:rPr sz="1950" spc="-30" dirty="0"/>
              <a:t>f</a:t>
            </a:r>
            <a:r>
              <a:rPr sz="1900" spc="-30" dirty="0"/>
              <a:t>or</a:t>
            </a:r>
            <a:r>
              <a:rPr sz="1900" spc="-175" dirty="0"/>
              <a:t> </a:t>
            </a:r>
            <a:r>
              <a:rPr sz="1700" spc="-65" dirty="0">
                <a:latin typeface="Sylfaen"/>
                <a:cs typeface="Sylfaen"/>
              </a:rPr>
              <a:t>"</a:t>
            </a:r>
            <a:r>
              <a:rPr sz="1950" spc="-65" dirty="0"/>
              <a:t>Be</a:t>
            </a:r>
            <a:r>
              <a:rPr sz="1900" spc="-65" dirty="0"/>
              <a:t>st</a:t>
            </a:r>
            <a:r>
              <a:rPr sz="1900" spc="-75" dirty="0"/>
              <a:t> </a:t>
            </a:r>
            <a:r>
              <a:rPr sz="1950" spc="-55" dirty="0"/>
              <a:t>H</a:t>
            </a:r>
            <a:r>
              <a:rPr sz="1900" spc="-55" dirty="0"/>
              <a:t>osp</a:t>
            </a:r>
            <a:r>
              <a:rPr sz="1950" spc="-55" dirty="0"/>
              <a:t>i</a:t>
            </a:r>
            <a:r>
              <a:rPr sz="1900" spc="-55" dirty="0"/>
              <a:t>t</a:t>
            </a:r>
            <a:r>
              <a:rPr sz="1950" spc="-55" dirty="0"/>
              <a:t>a</a:t>
            </a:r>
            <a:r>
              <a:rPr sz="1900" spc="-55" dirty="0"/>
              <a:t>ls</a:t>
            </a:r>
            <a:r>
              <a:rPr sz="1900" spc="-70" dirty="0"/>
              <a:t> </a:t>
            </a:r>
            <a:r>
              <a:rPr sz="1950" spc="-40" dirty="0"/>
              <a:t>i</a:t>
            </a:r>
            <a:r>
              <a:rPr sz="1900" spc="-40" dirty="0"/>
              <a:t>n</a:t>
            </a:r>
            <a:r>
              <a:rPr sz="1900" spc="-75" dirty="0"/>
              <a:t> </a:t>
            </a:r>
            <a:r>
              <a:rPr sz="1950" spc="-10" dirty="0"/>
              <a:t>I</a:t>
            </a:r>
            <a:r>
              <a:rPr sz="1900" spc="-10" dirty="0"/>
              <a:t>n</a:t>
            </a:r>
            <a:r>
              <a:rPr sz="1950" spc="-10" dirty="0"/>
              <a:t>dia</a:t>
            </a:r>
            <a:r>
              <a:rPr sz="1700" spc="-10" dirty="0">
                <a:latin typeface="Sylfaen"/>
                <a:cs typeface="Sylfaen"/>
              </a:rPr>
              <a:t>."</a:t>
            </a:r>
            <a:endParaRPr sz="1700">
              <a:latin typeface="Sylfaen"/>
              <a:cs typeface="Sylfae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0174" y="3114674"/>
            <a:ext cx="3133724" cy="190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93212" y="3774662"/>
            <a:ext cx="2718435" cy="9575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Professional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tools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84100"/>
              </a:lnSpc>
              <a:spcBef>
                <a:spcPts val="910"/>
              </a:spcBef>
            </a:pP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U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sp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ecia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z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tools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k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Wh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o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35" dirty="0">
                <a:solidFill>
                  <a:srgbClr val="96948B"/>
                </a:solidFill>
                <a:latin typeface="Sylfaen"/>
                <a:cs typeface="Sylfaen"/>
              </a:rPr>
              <a:t>,</a:t>
            </a:r>
            <a:r>
              <a:rPr sz="1100" dirty="0">
                <a:solidFill>
                  <a:srgbClr val="96948B"/>
                </a:solidFill>
                <a:latin typeface="Sylfaen"/>
                <a:cs typeface="Sylfaen"/>
              </a:rPr>
              <a:t> </a:t>
            </a:r>
            <a:r>
              <a:rPr sz="1300" spc="-105" dirty="0">
                <a:solidFill>
                  <a:srgbClr val="96948B"/>
                </a:solidFill>
                <a:latin typeface="Arial MT"/>
                <a:cs typeface="Arial MT"/>
              </a:rPr>
              <a:t>DAPA 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Chec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k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100" spc="-60" dirty="0">
                <a:solidFill>
                  <a:srgbClr val="96948B"/>
                </a:solidFill>
                <a:latin typeface="Sylfaen"/>
                <a:cs typeface="Sylfaen"/>
              </a:rPr>
              <a:t>,</a:t>
            </a:r>
            <a:r>
              <a:rPr sz="1100" spc="-25" dirty="0">
                <a:solidFill>
                  <a:srgbClr val="96948B"/>
                </a:solidFill>
                <a:latin typeface="Sylfaen"/>
                <a:cs typeface="Sylfaen"/>
              </a:rPr>
              <a:t> 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Ah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ef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35" dirty="0">
                <a:solidFill>
                  <a:srgbClr val="96948B"/>
                </a:solidFill>
                <a:latin typeface="Sylfaen"/>
                <a:cs typeface="Sylfaen"/>
              </a:rPr>
              <a:t>,</a:t>
            </a:r>
            <a:r>
              <a:rPr sz="1100" spc="5" dirty="0">
                <a:solidFill>
                  <a:srgbClr val="96948B"/>
                </a:solidFill>
                <a:latin typeface="Sylfaen"/>
                <a:cs typeface="Sylfaen"/>
              </a:rPr>
              <a:t> 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oo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PageS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eed 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ns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igh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ts</a:t>
            </a:r>
            <a:r>
              <a:rPr sz="1100" spc="-25" dirty="0">
                <a:solidFill>
                  <a:srgbClr val="96948B"/>
                </a:solidFill>
                <a:latin typeface="Sylfaen"/>
                <a:cs typeface="Sylfaen"/>
              </a:rPr>
              <a:t>,</a:t>
            </a:r>
            <a:r>
              <a:rPr sz="1100" spc="-15" dirty="0">
                <a:solidFill>
                  <a:srgbClr val="96948B"/>
                </a:solidFill>
                <a:latin typeface="Sylfaen"/>
                <a:cs typeface="Sylfaen"/>
              </a:rPr>
              <a:t> 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Pi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gd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om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250" spc="-8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lys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10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24935" y="31194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1" y="57500"/>
                </a:lnTo>
                <a:lnTo>
                  <a:pt x="2287" y="52899"/>
                </a:lnTo>
                <a:lnTo>
                  <a:pt x="3642" y="48432"/>
                </a:lnTo>
                <a:lnTo>
                  <a:pt x="5437" y="44099"/>
                </a:lnTo>
                <a:lnTo>
                  <a:pt x="7232" y="39765"/>
                </a:lnTo>
                <a:lnTo>
                  <a:pt x="20923" y="20923"/>
                </a:lnTo>
                <a:lnTo>
                  <a:pt x="24239" y="17606"/>
                </a:lnTo>
                <a:lnTo>
                  <a:pt x="44099" y="5437"/>
                </a:lnTo>
                <a:lnTo>
                  <a:pt x="48432" y="3642"/>
                </a:lnTo>
                <a:lnTo>
                  <a:pt x="52899" y="2287"/>
                </a:lnTo>
                <a:lnTo>
                  <a:pt x="57500" y="1372"/>
                </a:lnTo>
                <a:lnTo>
                  <a:pt x="62101" y="457"/>
                </a:lnTo>
                <a:lnTo>
                  <a:pt x="66747" y="0"/>
                </a:lnTo>
                <a:lnTo>
                  <a:pt x="71438" y="0"/>
                </a:lnTo>
                <a:lnTo>
                  <a:pt x="3052762" y="0"/>
                </a:lnTo>
                <a:lnTo>
                  <a:pt x="3057451" y="0"/>
                </a:lnTo>
                <a:lnTo>
                  <a:pt x="3062096" y="457"/>
                </a:lnTo>
                <a:lnTo>
                  <a:pt x="3099957" y="17606"/>
                </a:lnTo>
                <a:lnTo>
                  <a:pt x="3118759" y="44099"/>
                </a:lnTo>
                <a:lnTo>
                  <a:pt x="3120555" y="48432"/>
                </a:lnTo>
                <a:lnTo>
                  <a:pt x="3124200" y="71437"/>
                </a:lnTo>
                <a:lnTo>
                  <a:pt x="3124200" y="1824037"/>
                </a:lnTo>
                <a:lnTo>
                  <a:pt x="3112159" y="1863724"/>
                </a:lnTo>
                <a:lnTo>
                  <a:pt x="3092448" y="1883434"/>
                </a:lnTo>
                <a:lnTo>
                  <a:pt x="3088548" y="1886041"/>
                </a:lnTo>
                <a:lnTo>
                  <a:pt x="3057451" y="1895474"/>
                </a:lnTo>
                <a:lnTo>
                  <a:pt x="3052762" y="1895474"/>
                </a:lnTo>
                <a:lnTo>
                  <a:pt x="71438" y="1895474"/>
                </a:lnTo>
                <a:lnTo>
                  <a:pt x="66747" y="1895474"/>
                </a:lnTo>
                <a:lnTo>
                  <a:pt x="62101" y="1895017"/>
                </a:lnTo>
                <a:lnTo>
                  <a:pt x="24239" y="1877867"/>
                </a:lnTo>
                <a:lnTo>
                  <a:pt x="12039" y="1863725"/>
                </a:lnTo>
                <a:lnTo>
                  <a:pt x="9433" y="1859825"/>
                </a:lnTo>
                <a:lnTo>
                  <a:pt x="7232" y="1855707"/>
                </a:lnTo>
                <a:lnTo>
                  <a:pt x="5437" y="1851374"/>
                </a:lnTo>
                <a:lnTo>
                  <a:pt x="3642" y="1847040"/>
                </a:lnTo>
                <a:lnTo>
                  <a:pt x="2287" y="1842573"/>
                </a:lnTo>
                <a:lnTo>
                  <a:pt x="1371" y="1837973"/>
                </a:lnTo>
                <a:lnTo>
                  <a:pt x="457" y="1833372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924" y="3114674"/>
            <a:ext cx="3133724" cy="1904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20962" y="3774662"/>
            <a:ext cx="2712720" cy="9575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50" spc="-75" dirty="0">
                <a:solidFill>
                  <a:srgbClr val="F2F2F2"/>
                </a:solidFill>
                <a:latin typeface="Arial MT"/>
                <a:cs typeface="Arial MT"/>
              </a:rPr>
              <a:t>Domain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authority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84100"/>
              </a:lnSpc>
              <a:spcBef>
                <a:spcPts val="910"/>
              </a:spcBef>
            </a:pP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lu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eb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om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ut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ty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8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0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75" dirty="0">
                <a:solidFill>
                  <a:srgbClr val="96948B"/>
                </a:solidFill>
                <a:latin typeface="Arial MT"/>
                <a:cs typeface="Arial MT"/>
              </a:rPr>
              <a:t>k</a:t>
            </a: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75" dirty="0">
                <a:solidFill>
                  <a:srgbClr val="96948B"/>
                </a:solidFill>
                <a:latin typeface="Arial MT"/>
                <a:cs typeface="Arial MT"/>
              </a:rPr>
              <a:t>y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25" dirty="0">
                <a:solidFill>
                  <a:srgbClr val="96948B"/>
                </a:solidFill>
                <a:latin typeface="Arial MT"/>
                <a:cs typeface="Arial MT"/>
              </a:rPr>
              <a:t>SEO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hea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lt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tr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ic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250" spc="-8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osp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l w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eb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10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2686" y="31194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7606" y="24239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4"/>
                </a:lnTo>
                <a:lnTo>
                  <a:pt x="31749" y="12038"/>
                </a:lnTo>
                <a:lnTo>
                  <a:pt x="35649" y="9432"/>
                </a:lnTo>
                <a:lnTo>
                  <a:pt x="66747" y="0"/>
                </a:lnTo>
                <a:lnTo>
                  <a:pt x="71437" y="0"/>
                </a:lnTo>
                <a:lnTo>
                  <a:pt x="3052762" y="0"/>
                </a:lnTo>
                <a:lnTo>
                  <a:pt x="3057452" y="0"/>
                </a:lnTo>
                <a:lnTo>
                  <a:pt x="3062098" y="457"/>
                </a:lnTo>
                <a:lnTo>
                  <a:pt x="3066698" y="1372"/>
                </a:lnTo>
                <a:lnTo>
                  <a:pt x="3071299" y="2287"/>
                </a:lnTo>
                <a:lnTo>
                  <a:pt x="3103275" y="20923"/>
                </a:lnTo>
                <a:lnTo>
                  <a:pt x="3106592" y="24239"/>
                </a:lnTo>
                <a:lnTo>
                  <a:pt x="3122826" y="57500"/>
                </a:lnTo>
                <a:lnTo>
                  <a:pt x="3123742" y="62101"/>
                </a:lnTo>
                <a:lnTo>
                  <a:pt x="3124199" y="66746"/>
                </a:lnTo>
                <a:lnTo>
                  <a:pt x="3124199" y="71437"/>
                </a:lnTo>
                <a:lnTo>
                  <a:pt x="3124199" y="1824037"/>
                </a:lnTo>
                <a:lnTo>
                  <a:pt x="3124199" y="1828727"/>
                </a:lnTo>
                <a:lnTo>
                  <a:pt x="3123742" y="1833372"/>
                </a:lnTo>
                <a:lnTo>
                  <a:pt x="3122826" y="1837973"/>
                </a:lnTo>
                <a:lnTo>
                  <a:pt x="3121911" y="1842573"/>
                </a:lnTo>
                <a:lnTo>
                  <a:pt x="3103275" y="1874550"/>
                </a:lnTo>
                <a:lnTo>
                  <a:pt x="3099958" y="1877867"/>
                </a:lnTo>
                <a:lnTo>
                  <a:pt x="3096350" y="1880829"/>
                </a:lnTo>
                <a:lnTo>
                  <a:pt x="3092450" y="1883434"/>
                </a:lnTo>
                <a:lnTo>
                  <a:pt x="3088549" y="1886041"/>
                </a:lnTo>
                <a:lnTo>
                  <a:pt x="3057452" y="1895474"/>
                </a:lnTo>
                <a:lnTo>
                  <a:pt x="3052762" y="1895474"/>
                </a:lnTo>
                <a:lnTo>
                  <a:pt x="71437" y="1895474"/>
                </a:lnTo>
                <a:lnTo>
                  <a:pt x="66747" y="1895474"/>
                </a:lnTo>
                <a:lnTo>
                  <a:pt x="62101" y="1895017"/>
                </a:lnTo>
                <a:lnTo>
                  <a:pt x="24240" y="1877867"/>
                </a:lnTo>
                <a:lnTo>
                  <a:pt x="20923" y="1874550"/>
                </a:lnTo>
                <a:lnTo>
                  <a:pt x="17606" y="1871234"/>
                </a:lnTo>
                <a:lnTo>
                  <a:pt x="1372" y="1837973"/>
                </a:lnTo>
                <a:lnTo>
                  <a:pt x="457" y="1833372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4049" y="3114674"/>
            <a:ext cx="3133724" cy="1904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07087" y="3774662"/>
            <a:ext cx="2464435" cy="9575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50"/>
              </a:spcBef>
            </a:pP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Backlink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analysis</a:t>
            </a:r>
            <a:endParaRPr sz="1450">
              <a:latin typeface="Arial MT"/>
              <a:cs typeface="Arial MT"/>
            </a:endParaRPr>
          </a:p>
          <a:p>
            <a:pPr marL="12700" marR="5080" algn="just">
              <a:lnSpc>
                <a:spcPct val="84100"/>
              </a:lnSpc>
              <a:spcBef>
                <a:spcPts val="910"/>
              </a:spcBef>
            </a:pP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lyz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bac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kl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nk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proﬁl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to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ss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ss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onl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put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on</a:t>
            </a:r>
            <a:r>
              <a:rPr sz="1250" spc="-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8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8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80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ea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ch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nk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g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pot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100" spc="-10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38811" y="31194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1" y="57500"/>
                </a:lnTo>
                <a:lnTo>
                  <a:pt x="2287" y="52899"/>
                </a:lnTo>
                <a:lnTo>
                  <a:pt x="3642" y="48432"/>
                </a:lnTo>
                <a:lnTo>
                  <a:pt x="5437" y="44099"/>
                </a:lnTo>
                <a:lnTo>
                  <a:pt x="7232" y="39765"/>
                </a:lnTo>
                <a:lnTo>
                  <a:pt x="9432" y="35648"/>
                </a:lnTo>
                <a:lnTo>
                  <a:pt x="12038" y="31748"/>
                </a:lnTo>
                <a:lnTo>
                  <a:pt x="14644" y="27848"/>
                </a:lnTo>
                <a:lnTo>
                  <a:pt x="17605" y="24239"/>
                </a:lnTo>
                <a:lnTo>
                  <a:pt x="20923" y="20923"/>
                </a:lnTo>
                <a:lnTo>
                  <a:pt x="24239" y="17606"/>
                </a:lnTo>
                <a:lnTo>
                  <a:pt x="27847" y="14644"/>
                </a:lnTo>
                <a:lnTo>
                  <a:pt x="31748" y="12038"/>
                </a:lnTo>
                <a:lnTo>
                  <a:pt x="35648" y="9432"/>
                </a:lnTo>
                <a:lnTo>
                  <a:pt x="66746" y="0"/>
                </a:lnTo>
                <a:lnTo>
                  <a:pt x="71437" y="0"/>
                </a:lnTo>
                <a:lnTo>
                  <a:pt x="3052762" y="0"/>
                </a:lnTo>
                <a:lnTo>
                  <a:pt x="3057453" y="0"/>
                </a:lnTo>
                <a:lnTo>
                  <a:pt x="3062098" y="457"/>
                </a:lnTo>
                <a:lnTo>
                  <a:pt x="3066699" y="1372"/>
                </a:lnTo>
                <a:lnTo>
                  <a:pt x="3071299" y="2287"/>
                </a:lnTo>
                <a:lnTo>
                  <a:pt x="3075765" y="3642"/>
                </a:lnTo>
                <a:lnTo>
                  <a:pt x="3080099" y="5437"/>
                </a:lnTo>
                <a:lnTo>
                  <a:pt x="3084433" y="7232"/>
                </a:lnTo>
                <a:lnTo>
                  <a:pt x="3088550" y="9432"/>
                </a:lnTo>
                <a:lnTo>
                  <a:pt x="3092449" y="12038"/>
                </a:lnTo>
                <a:lnTo>
                  <a:pt x="3096350" y="14644"/>
                </a:lnTo>
                <a:lnTo>
                  <a:pt x="3099959" y="17606"/>
                </a:lnTo>
                <a:lnTo>
                  <a:pt x="3103275" y="20923"/>
                </a:lnTo>
                <a:lnTo>
                  <a:pt x="3106592" y="24239"/>
                </a:lnTo>
                <a:lnTo>
                  <a:pt x="3109553" y="27848"/>
                </a:lnTo>
                <a:lnTo>
                  <a:pt x="3112159" y="31748"/>
                </a:lnTo>
                <a:lnTo>
                  <a:pt x="3114765" y="35648"/>
                </a:lnTo>
                <a:lnTo>
                  <a:pt x="3116966" y="39765"/>
                </a:lnTo>
                <a:lnTo>
                  <a:pt x="3118761" y="44099"/>
                </a:lnTo>
                <a:lnTo>
                  <a:pt x="3120556" y="48432"/>
                </a:lnTo>
                <a:lnTo>
                  <a:pt x="3121911" y="52899"/>
                </a:lnTo>
                <a:lnTo>
                  <a:pt x="3122826" y="57500"/>
                </a:lnTo>
                <a:lnTo>
                  <a:pt x="3123741" y="62101"/>
                </a:lnTo>
                <a:lnTo>
                  <a:pt x="3124199" y="66746"/>
                </a:lnTo>
                <a:lnTo>
                  <a:pt x="3124199" y="71437"/>
                </a:lnTo>
                <a:lnTo>
                  <a:pt x="3124199" y="1824037"/>
                </a:lnTo>
                <a:lnTo>
                  <a:pt x="3124199" y="1828727"/>
                </a:lnTo>
                <a:lnTo>
                  <a:pt x="3123741" y="1833372"/>
                </a:lnTo>
                <a:lnTo>
                  <a:pt x="3122825" y="1837973"/>
                </a:lnTo>
                <a:lnTo>
                  <a:pt x="3121911" y="1842573"/>
                </a:lnTo>
                <a:lnTo>
                  <a:pt x="3120556" y="1847040"/>
                </a:lnTo>
                <a:lnTo>
                  <a:pt x="3118761" y="1851374"/>
                </a:lnTo>
                <a:lnTo>
                  <a:pt x="3116966" y="1855707"/>
                </a:lnTo>
                <a:lnTo>
                  <a:pt x="3103275" y="1874550"/>
                </a:lnTo>
                <a:lnTo>
                  <a:pt x="3099959" y="1877867"/>
                </a:lnTo>
                <a:lnTo>
                  <a:pt x="3096350" y="1880829"/>
                </a:lnTo>
                <a:lnTo>
                  <a:pt x="3092450" y="1883434"/>
                </a:lnTo>
                <a:lnTo>
                  <a:pt x="3088550" y="1886041"/>
                </a:lnTo>
                <a:lnTo>
                  <a:pt x="3057453" y="1895474"/>
                </a:lnTo>
                <a:lnTo>
                  <a:pt x="3052762" y="1895474"/>
                </a:lnTo>
                <a:lnTo>
                  <a:pt x="71437" y="1895474"/>
                </a:lnTo>
                <a:lnTo>
                  <a:pt x="66746" y="1895474"/>
                </a:lnTo>
                <a:lnTo>
                  <a:pt x="62100" y="1895017"/>
                </a:lnTo>
                <a:lnTo>
                  <a:pt x="24239" y="1877867"/>
                </a:lnTo>
                <a:lnTo>
                  <a:pt x="20923" y="1874550"/>
                </a:lnTo>
                <a:lnTo>
                  <a:pt x="17605" y="1871234"/>
                </a:lnTo>
                <a:lnTo>
                  <a:pt x="5437" y="1851374"/>
                </a:lnTo>
                <a:lnTo>
                  <a:pt x="3642" y="1847040"/>
                </a:lnTo>
                <a:lnTo>
                  <a:pt x="2287" y="1842573"/>
                </a:lnTo>
                <a:lnTo>
                  <a:pt x="1371" y="1837973"/>
                </a:lnTo>
                <a:lnTo>
                  <a:pt x="457" y="1833372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0174" y="5172074"/>
            <a:ext cx="3133724" cy="19049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193212" y="5832062"/>
            <a:ext cx="2456815" cy="9575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Traffic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assessment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84100"/>
              </a:lnSpc>
              <a:spcBef>
                <a:spcPts val="910"/>
              </a:spcBef>
            </a:pP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Mea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sur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ed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eb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tr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ff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ic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p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rns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to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un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rst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u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die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ce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each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d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gage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100" spc="-10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024935" y="51768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371" y="57500"/>
                </a:lnTo>
                <a:lnTo>
                  <a:pt x="2287" y="52900"/>
                </a:lnTo>
                <a:lnTo>
                  <a:pt x="3642" y="48433"/>
                </a:lnTo>
                <a:lnTo>
                  <a:pt x="5437" y="44099"/>
                </a:lnTo>
                <a:lnTo>
                  <a:pt x="7232" y="39765"/>
                </a:lnTo>
                <a:lnTo>
                  <a:pt x="35648" y="9431"/>
                </a:lnTo>
                <a:lnTo>
                  <a:pt x="44099" y="5436"/>
                </a:lnTo>
                <a:lnTo>
                  <a:pt x="48432" y="3642"/>
                </a:lnTo>
                <a:lnTo>
                  <a:pt x="71438" y="0"/>
                </a:lnTo>
                <a:lnTo>
                  <a:pt x="3052762" y="0"/>
                </a:lnTo>
                <a:lnTo>
                  <a:pt x="3092449" y="12038"/>
                </a:lnTo>
                <a:lnTo>
                  <a:pt x="3118759" y="44099"/>
                </a:lnTo>
                <a:lnTo>
                  <a:pt x="3124200" y="71437"/>
                </a:lnTo>
                <a:lnTo>
                  <a:pt x="3124200" y="1824037"/>
                </a:lnTo>
                <a:lnTo>
                  <a:pt x="3124199" y="1828727"/>
                </a:lnTo>
                <a:lnTo>
                  <a:pt x="3123740" y="1833373"/>
                </a:lnTo>
                <a:lnTo>
                  <a:pt x="3122825" y="1837973"/>
                </a:lnTo>
                <a:lnTo>
                  <a:pt x="3121910" y="1842573"/>
                </a:lnTo>
                <a:lnTo>
                  <a:pt x="3120555" y="1847041"/>
                </a:lnTo>
                <a:lnTo>
                  <a:pt x="3118759" y="1851374"/>
                </a:lnTo>
                <a:lnTo>
                  <a:pt x="3116964" y="1855708"/>
                </a:lnTo>
                <a:lnTo>
                  <a:pt x="3092448" y="1883434"/>
                </a:lnTo>
                <a:lnTo>
                  <a:pt x="3088548" y="1886040"/>
                </a:lnTo>
                <a:lnTo>
                  <a:pt x="3084431" y="1888241"/>
                </a:lnTo>
                <a:lnTo>
                  <a:pt x="3080098" y="1890036"/>
                </a:lnTo>
                <a:lnTo>
                  <a:pt x="3075764" y="1891831"/>
                </a:lnTo>
                <a:lnTo>
                  <a:pt x="3052762" y="1895474"/>
                </a:lnTo>
                <a:lnTo>
                  <a:pt x="71438" y="1895474"/>
                </a:lnTo>
                <a:lnTo>
                  <a:pt x="66747" y="1895474"/>
                </a:lnTo>
                <a:lnTo>
                  <a:pt x="62101" y="1895016"/>
                </a:lnTo>
                <a:lnTo>
                  <a:pt x="57501" y="1894101"/>
                </a:lnTo>
                <a:lnTo>
                  <a:pt x="52899" y="1893186"/>
                </a:lnTo>
                <a:lnTo>
                  <a:pt x="48432" y="1891831"/>
                </a:lnTo>
                <a:lnTo>
                  <a:pt x="44099" y="1890036"/>
                </a:lnTo>
                <a:lnTo>
                  <a:pt x="39764" y="1888241"/>
                </a:lnTo>
                <a:lnTo>
                  <a:pt x="35647" y="1886040"/>
                </a:lnTo>
                <a:lnTo>
                  <a:pt x="31747" y="1883434"/>
                </a:lnTo>
                <a:lnTo>
                  <a:pt x="27848" y="1880829"/>
                </a:lnTo>
                <a:lnTo>
                  <a:pt x="12039" y="1863725"/>
                </a:lnTo>
                <a:lnTo>
                  <a:pt x="9433" y="1859825"/>
                </a:lnTo>
                <a:lnTo>
                  <a:pt x="7232" y="1855708"/>
                </a:lnTo>
                <a:lnTo>
                  <a:pt x="5437" y="1851374"/>
                </a:lnTo>
                <a:lnTo>
                  <a:pt x="3642" y="1847041"/>
                </a:lnTo>
                <a:lnTo>
                  <a:pt x="2287" y="1842573"/>
                </a:lnTo>
                <a:lnTo>
                  <a:pt x="1371" y="1837973"/>
                </a:lnTo>
                <a:lnTo>
                  <a:pt x="457" y="1833373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924" y="5172074"/>
            <a:ext cx="3133724" cy="19049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20962" y="5832062"/>
            <a:ext cx="2623185" cy="9575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50" spc="-100" dirty="0">
                <a:solidFill>
                  <a:srgbClr val="F2F2F2"/>
                </a:solidFill>
                <a:latin typeface="Arial MT"/>
                <a:cs typeface="Arial MT"/>
              </a:rPr>
              <a:t>Page</a:t>
            </a: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speed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84100"/>
              </a:lnSpc>
              <a:spcBef>
                <a:spcPts val="910"/>
              </a:spcBef>
            </a:pP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Te</a:t>
            </a:r>
            <a:r>
              <a:rPr sz="1250" spc="-75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lo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adi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sp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eed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to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lu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us</a:t>
            </a:r>
            <a:r>
              <a:rPr sz="1300" spc="-7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r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xp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ie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ce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ea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ch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gi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opt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z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on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fac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tors</a:t>
            </a:r>
            <a:r>
              <a:rPr sz="1100" spc="-10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52686" y="51768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7606" y="24239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4"/>
                </a:lnTo>
                <a:lnTo>
                  <a:pt x="31749" y="12038"/>
                </a:lnTo>
                <a:lnTo>
                  <a:pt x="35649" y="9431"/>
                </a:lnTo>
                <a:lnTo>
                  <a:pt x="71437" y="0"/>
                </a:lnTo>
                <a:lnTo>
                  <a:pt x="3052762" y="0"/>
                </a:lnTo>
                <a:lnTo>
                  <a:pt x="3092450" y="12038"/>
                </a:lnTo>
                <a:lnTo>
                  <a:pt x="3103275" y="20923"/>
                </a:lnTo>
                <a:lnTo>
                  <a:pt x="3106592" y="24239"/>
                </a:lnTo>
                <a:lnTo>
                  <a:pt x="3122826" y="57500"/>
                </a:lnTo>
                <a:lnTo>
                  <a:pt x="3123742" y="62100"/>
                </a:lnTo>
                <a:lnTo>
                  <a:pt x="3124199" y="66746"/>
                </a:lnTo>
                <a:lnTo>
                  <a:pt x="3124199" y="71437"/>
                </a:lnTo>
                <a:lnTo>
                  <a:pt x="3124199" y="1824037"/>
                </a:lnTo>
                <a:lnTo>
                  <a:pt x="3124199" y="1828727"/>
                </a:lnTo>
                <a:lnTo>
                  <a:pt x="3123742" y="1833373"/>
                </a:lnTo>
                <a:lnTo>
                  <a:pt x="3122826" y="1837973"/>
                </a:lnTo>
                <a:lnTo>
                  <a:pt x="3121911" y="1842573"/>
                </a:lnTo>
                <a:lnTo>
                  <a:pt x="3099958" y="1877867"/>
                </a:lnTo>
                <a:lnTo>
                  <a:pt x="3092450" y="1883434"/>
                </a:lnTo>
                <a:lnTo>
                  <a:pt x="3088549" y="1886040"/>
                </a:lnTo>
                <a:lnTo>
                  <a:pt x="3066698" y="1894101"/>
                </a:lnTo>
                <a:lnTo>
                  <a:pt x="3062098" y="1895016"/>
                </a:lnTo>
                <a:lnTo>
                  <a:pt x="3057452" y="1895474"/>
                </a:lnTo>
                <a:lnTo>
                  <a:pt x="3052762" y="1895474"/>
                </a:lnTo>
                <a:lnTo>
                  <a:pt x="71437" y="1895474"/>
                </a:lnTo>
                <a:lnTo>
                  <a:pt x="66747" y="1895474"/>
                </a:lnTo>
                <a:lnTo>
                  <a:pt x="62101" y="1895016"/>
                </a:lnTo>
                <a:lnTo>
                  <a:pt x="57500" y="1894101"/>
                </a:lnTo>
                <a:lnTo>
                  <a:pt x="52900" y="1893186"/>
                </a:lnTo>
                <a:lnTo>
                  <a:pt x="48433" y="1891831"/>
                </a:lnTo>
                <a:lnTo>
                  <a:pt x="44099" y="1890036"/>
                </a:lnTo>
                <a:lnTo>
                  <a:pt x="39765" y="1888241"/>
                </a:lnTo>
                <a:lnTo>
                  <a:pt x="35649" y="1886040"/>
                </a:lnTo>
                <a:lnTo>
                  <a:pt x="31748" y="1883434"/>
                </a:lnTo>
                <a:lnTo>
                  <a:pt x="27848" y="1880829"/>
                </a:lnTo>
                <a:lnTo>
                  <a:pt x="5437" y="1851374"/>
                </a:lnTo>
                <a:lnTo>
                  <a:pt x="3642" y="1847041"/>
                </a:lnTo>
                <a:lnTo>
                  <a:pt x="2287" y="1842573"/>
                </a:lnTo>
                <a:lnTo>
                  <a:pt x="1372" y="1837973"/>
                </a:lnTo>
                <a:lnTo>
                  <a:pt x="457" y="1833373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4049" y="5172074"/>
            <a:ext cx="3133724" cy="19049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907087" y="5832062"/>
            <a:ext cx="2762885" cy="7956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Mobile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optimization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ts val="1350"/>
              </a:lnSpc>
              <a:spcBef>
                <a:spcPts val="880"/>
              </a:spcBef>
            </a:pP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Chec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k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ed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mo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bi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100" spc="-25" dirty="0">
                <a:solidFill>
                  <a:srgbClr val="96948B"/>
                </a:solidFill>
                <a:latin typeface="Sylfaen"/>
                <a:cs typeface="Sylfaen"/>
              </a:rPr>
              <a:t>-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ie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ss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to</a:t>
            </a:r>
            <a:r>
              <a:rPr sz="1250" spc="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nsur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eb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p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orm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ll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ac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ross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ll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ice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45" dirty="0">
                <a:solidFill>
                  <a:srgbClr val="96948B"/>
                </a:solidFill>
                <a:latin typeface="Sylfaen"/>
                <a:cs typeface="Sylfaen"/>
              </a:rPr>
              <a:t>.</a:t>
            </a:r>
            <a:endParaRPr sz="1100">
              <a:latin typeface="Sylfaen"/>
              <a:cs typeface="Sylfae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38811" y="5176836"/>
            <a:ext cx="3124200" cy="1895475"/>
          </a:xfrm>
          <a:custGeom>
            <a:avLst/>
            <a:gdLst/>
            <a:ahLst/>
            <a:cxnLst/>
            <a:rect l="l" t="t" r="r" b="b"/>
            <a:pathLst>
              <a:path w="3124200" h="1895475">
                <a:moveTo>
                  <a:pt x="0" y="1824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371" y="57500"/>
                </a:lnTo>
                <a:lnTo>
                  <a:pt x="2287" y="52900"/>
                </a:lnTo>
                <a:lnTo>
                  <a:pt x="3642" y="48433"/>
                </a:lnTo>
                <a:lnTo>
                  <a:pt x="5437" y="44099"/>
                </a:lnTo>
                <a:lnTo>
                  <a:pt x="7232" y="39765"/>
                </a:lnTo>
                <a:lnTo>
                  <a:pt x="9432" y="35649"/>
                </a:lnTo>
                <a:lnTo>
                  <a:pt x="12038" y="31748"/>
                </a:lnTo>
                <a:lnTo>
                  <a:pt x="14644" y="27848"/>
                </a:lnTo>
                <a:lnTo>
                  <a:pt x="17605" y="24239"/>
                </a:lnTo>
                <a:lnTo>
                  <a:pt x="20923" y="20923"/>
                </a:lnTo>
                <a:lnTo>
                  <a:pt x="24239" y="17606"/>
                </a:lnTo>
                <a:lnTo>
                  <a:pt x="62100" y="458"/>
                </a:lnTo>
                <a:lnTo>
                  <a:pt x="71437" y="0"/>
                </a:lnTo>
                <a:lnTo>
                  <a:pt x="3052762" y="0"/>
                </a:lnTo>
                <a:lnTo>
                  <a:pt x="3080099" y="5436"/>
                </a:lnTo>
                <a:lnTo>
                  <a:pt x="3084433" y="7231"/>
                </a:lnTo>
                <a:lnTo>
                  <a:pt x="3088550" y="9431"/>
                </a:lnTo>
                <a:lnTo>
                  <a:pt x="3092449" y="12038"/>
                </a:lnTo>
                <a:lnTo>
                  <a:pt x="3096350" y="14644"/>
                </a:lnTo>
                <a:lnTo>
                  <a:pt x="3099959" y="17606"/>
                </a:lnTo>
                <a:lnTo>
                  <a:pt x="3103275" y="20923"/>
                </a:lnTo>
                <a:lnTo>
                  <a:pt x="3106592" y="24239"/>
                </a:lnTo>
                <a:lnTo>
                  <a:pt x="3118761" y="44099"/>
                </a:lnTo>
                <a:lnTo>
                  <a:pt x="3120556" y="48433"/>
                </a:lnTo>
                <a:lnTo>
                  <a:pt x="3121911" y="52900"/>
                </a:lnTo>
                <a:lnTo>
                  <a:pt x="3122826" y="57500"/>
                </a:lnTo>
                <a:lnTo>
                  <a:pt x="3123741" y="62100"/>
                </a:lnTo>
                <a:lnTo>
                  <a:pt x="3124199" y="66746"/>
                </a:lnTo>
                <a:lnTo>
                  <a:pt x="3124199" y="71437"/>
                </a:lnTo>
                <a:lnTo>
                  <a:pt x="3124199" y="1824037"/>
                </a:lnTo>
                <a:lnTo>
                  <a:pt x="3124199" y="1828727"/>
                </a:lnTo>
                <a:lnTo>
                  <a:pt x="3123741" y="1833373"/>
                </a:lnTo>
                <a:lnTo>
                  <a:pt x="3122825" y="1837973"/>
                </a:lnTo>
                <a:lnTo>
                  <a:pt x="3121911" y="1842573"/>
                </a:lnTo>
                <a:lnTo>
                  <a:pt x="3120556" y="1847041"/>
                </a:lnTo>
                <a:lnTo>
                  <a:pt x="3118761" y="1851374"/>
                </a:lnTo>
                <a:lnTo>
                  <a:pt x="3116966" y="1855708"/>
                </a:lnTo>
                <a:lnTo>
                  <a:pt x="3092450" y="1883434"/>
                </a:lnTo>
                <a:lnTo>
                  <a:pt x="3088550" y="1886040"/>
                </a:lnTo>
                <a:lnTo>
                  <a:pt x="3084433" y="1888241"/>
                </a:lnTo>
                <a:lnTo>
                  <a:pt x="3080099" y="1890036"/>
                </a:lnTo>
                <a:lnTo>
                  <a:pt x="3075765" y="1891831"/>
                </a:lnTo>
                <a:lnTo>
                  <a:pt x="3071298" y="1893186"/>
                </a:lnTo>
                <a:lnTo>
                  <a:pt x="3066698" y="1894101"/>
                </a:lnTo>
                <a:lnTo>
                  <a:pt x="3062098" y="1895016"/>
                </a:lnTo>
                <a:lnTo>
                  <a:pt x="3057453" y="1895474"/>
                </a:lnTo>
                <a:lnTo>
                  <a:pt x="3052762" y="1895474"/>
                </a:lnTo>
                <a:lnTo>
                  <a:pt x="71437" y="1895474"/>
                </a:lnTo>
                <a:lnTo>
                  <a:pt x="44098" y="1890036"/>
                </a:lnTo>
                <a:lnTo>
                  <a:pt x="39764" y="1888241"/>
                </a:lnTo>
                <a:lnTo>
                  <a:pt x="35648" y="1886040"/>
                </a:lnTo>
                <a:lnTo>
                  <a:pt x="31748" y="1883434"/>
                </a:lnTo>
                <a:lnTo>
                  <a:pt x="27847" y="1880829"/>
                </a:lnTo>
                <a:lnTo>
                  <a:pt x="24239" y="1877867"/>
                </a:lnTo>
                <a:lnTo>
                  <a:pt x="20923" y="1874550"/>
                </a:lnTo>
                <a:lnTo>
                  <a:pt x="17605" y="1871233"/>
                </a:lnTo>
                <a:lnTo>
                  <a:pt x="5437" y="1851374"/>
                </a:lnTo>
                <a:lnTo>
                  <a:pt x="3642" y="1847041"/>
                </a:lnTo>
                <a:lnTo>
                  <a:pt x="2287" y="1842573"/>
                </a:lnTo>
                <a:lnTo>
                  <a:pt x="1371" y="1837973"/>
                </a:lnTo>
                <a:lnTo>
                  <a:pt x="457" y="1833373"/>
                </a:lnTo>
                <a:lnTo>
                  <a:pt x="0" y="1828727"/>
                </a:lnTo>
                <a:lnTo>
                  <a:pt x="0" y="182403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920" y="692790"/>
            <a:ext cx="5671820" cy="141160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 marR="5080">
              <a:lnSpc>
                <a:spcPct val="78400"/>
              </a:lnSpc>
              <a:spcBef>
                <a:spcPts val="1415"/>
              </a:spcBef>
            </a:pPr>
            <a:r>
              <a:rPr sz="5100" spc="-140" dirty="0"/>
              <a:t>Digi</a:t>
            </a:r>
            <a:r>
              <a:rPr spc="-140" dirty="0"/>
              <a:t>t</a:t>
            </a:r>
            <a:r>
              <a:rPr sz="5100" spc="-140" dirty="0"/>
              <a:t>a</a:t>
            </a:r>
            <a:r>
              <a:rPr spc="-140" dirty="0"/>
              <a:t>l</a:t>
            </a:r>
            <a:r>
              <a:rPr spc="-465" dirty="0"/>
              <a:t> </a:t>
            </a:r>
            <a:r>
              <a:rPr sz="5100" spc="-185" dirty="0"/>
              <a:t>Vi</a:t>
            </a:r>
            <a:r>
              <a:rPr spc="-185" dirty="0"/>
              <a:t>t</a:t>
            </a:r>
            <a:r>
              <a:rPr sz="5100" spc="-185" dirty="0"/>
              <a:t>a</a:t>
            </a:r>
            <a:r>
              <a:rPr spc="-185" dirty="0"/>
              <a:t>ls</a:t>
            </a:r>
            <a:r>
              <a:rPr spc="-340" dirty="0"/>
              <a:t> </a:t>
            </a:r>
            <a:r>
              <a:rPr spc="-80" dirty="0"/>
              <a:t>o</a:t>
            </a:r>
            <a:r>
              <a:rPr sz="5100" spc="-80" dirty="0"/>
              <a:t>f</a:t>
            </a:r>
            <a:r>
              <a:rPr sz="5100" spc="-430" dirty="0"/>
              <a:t> </a:t>
            </a:r>
            <a:r>
              <a:rPr sz="5100" spc="-170" dirty="0"/>
              <a:t>I</a:t>
            </a:r>
            <a:r>
              <a:rPr spc="-170" dirty="0"/>
              <a:t>n</a:t>
            </a:r>
            <a:r>
              <a:rPr sz="5100" spc="-170" dirty="0"/>
              <a:t>dia</a:t>
            </a:r>
            <a:r>
              <a:rPr spc="-170" dirty="0"/>
              <a:t>n </a:t>
            </a:r>
            <a:r>
              <a:rPr sz="5100" spc="-229" dirty="0"/>
              <a:t>Hea</a:t>
            </a:r>
            <a:r>
              <a:rPr spc="-229" dirty="0"/>
              <a:t>lt</a:t>
            </a:r>
            <a:r>
              <a:rPr sz="5100" spc="-229" dirty="0"/>
              <a:t>hca</a:t>
            </a:r>
            <a:r>
              <a:rPr spc="-229" dirty="0"/>
              <a:t>r</a:t>
            </a:r>
            <a:r>
              <a:rPr sz="5100" spc="-229" dirty="0"/>
              <a:t>e</a:t>
            </a:r>
            <a:r>
              <a:rPr sz="5100" spc="-405" dirty="0"/>
              <a:t> </a:t>
            </a:r>
            <a:r>
              <a:rPr spc="-10" dirty="0"/>
              <a:t>w</a:t>
            </a:r>
            <a:r>
              <a:rPr sz="5100" spc="-10" dirty="0"/>
              <a:t>eb</a:t>
            </a:r>
            <a:r>
              <a:rPr spc="-10" dirty="0"/>
              <a:t>s</a:t>
            </a:r>
            <a:r>
              <a:rPr sz="5100" spc="-10" dirty="0"/>
              <a:t>i</a:t>
            </a:r>
            <a:r>
              <a:rPr spc="-10" dirty="0"/>
              <a:t>t</a:t>
            </a:r>
            <a:r>
              <a:rPr sz="5100" spc="-10" dirty="0"/>
              <a:t>e</a:t>
            </a:r>
            <a:r>
              <a:rPr spc="-10" dirty="0"/>
              <a:t>s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714920" y="2802177"/>
            <a:ext cx="5568950" cy="5645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450"/>
              </a:spcBef>
            </a:pP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Three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major</a:t>
            </a:r>
            <a:r>
              <a:rPr sz="1900" spc="-1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healthcare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websites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 emerged</a:t>
            </a:r>
            <a:r>
              <a:rPr sz="190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125" dirty="0">
                <a:solidFill>
                  <a:srgbClr val="F2F2F2"/>
                </a:solidFill>
                <a:latin typeface="Arial MT"/>
                <a:cs typeface="Arial MT"/>
              </a:rPr>
              <a:t>as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leaders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F2F2F2"/>
                </a:solidFill>
                <a:latin typeface="Arial MT"/>
                <a:cs typeface="Arial MT"/>
              </a:rPr>
              <a:t>in </a:t>
            </a:r>
            <a:r>
              <a:rPr sz="1900" spc="-40" dirty="0">
                <a:solidFill>
                  <a:srgbClr val="F2F2F2"/>
                </a:solidFill>
                <a:latin typeface="Arial MT"/>
                <a:cs typeface="Arial MT"/>
              </a:rPr>
              <a:t>the</a:t>
            </a: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F2F2F2"/>
                </a:solidFill>
                <a:latin typeface="Arial MT"/>
                <a:cs typeface="Arial MT"/>
              </a:rPr>
              <a:t>Indian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market</a:t>
            </a:r>
            <a:r>
              <a:rPr sz="1700" spc="-65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700" spc="-25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each</a:t>
            </a:r>
            <a:r>
              <a:rPr sz="1900" spc="-10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2F2F2"/>
                </a:solidFill>
                <a:latin typeface="Arial MT"/>
                <a:cs typeface="Arial MT"/>
              </a:rPr>
              <a:t>with</a:t>
            </a:r>
            <a:r>
              <a:rPr sz="190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distinct</a:t>
            </a:r>
            <a:r>
              <a:rPr sz="190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F2F2F2"/>
                </a:solidFill>
                <a:latin typeface="Arial MT"/>
                <a:cs typeface="Arial MT"/>
              </a:rPr>
              <a:t>digital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footprints</a:t>
            </a:r>
            <a:r>
              <a:rPr sz="1700" spc="-10" dirty="0">
                <a:solidFill>
                  <a:srgbClr val="F2F2F2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4549" y="5238749"/>
            <a:ext cx="4133849" cy="20764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08479" y="5929725"/>
            <a:ext cx="3470275" cy="9550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Domain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authority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87500"/>
              </a:lnSpc>
              <a:spcBef>
                <a:spcPts val="905"/>
              </a:spcBef>
            </a:pP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Newsweek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leads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with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93</a:t>
            </a:r>
            <a:r>
              <a:rPr sz="1100" spc="-25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100</a:t>
            </a:r>
            <a:r>
              <a:rPr sz="1100" spc="-25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100" spc="-65" dirty="0">
                <a:solidFill>
                  <a:srgbClr val="96948B"/>
                </a:solidFill>
                <a:latin typeface="Microsoft YaHei"/>
                <a:cs typeface="Microsoft YaHei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while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Max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and Fortis 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have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moderate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scores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of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51</a:t>
            </a:r>
            <a:r>
              <a:rPr sz="1100" spc="-70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100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and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54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100 respectively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39310" y="5243511"/>
            <a:ext cx="4124325" cy="2066925"/>
          </a:xfrm>
          <a:custGeom>
            <a:avLst/>
            <a:gdLst/>
            <a:ahLst/>
            <a:cxnLst/>
            <a:rect l="l" t="t" r="r" b="b"/>
            <a:pathLst>
              <a:path w="4124325" h="2066925">
                <a:moveTo>
                  <a:pt x="0" y="1995487"/>
                </a:moveTo>
                <a:lnTo>
                  <a:pt x="0" y="71437"/>
                </a:lnTo>
                <a:lnTo>
                  <a:pt x="0" y="66746"/>
                </a:lnTo>
                <a:lnTo>
                  <a:pt x="456" y="62100"/>
                </a:lnTo>
                <a:lnTo>
                  <a:pt x="17605" y="24239"/>
                </a:lnTo>
                <a:lnTo>
                  <a:pt x="20922" y="20923"/>
                </a:lnTo>
                <a:lnTo>
                  <a:pt x="24239" y="17606"/>
                </a:lnTo>
                <a:lnTo>
                  <a:pt x="62101" y="457"/>
                </a:lnTo>
                <a:lnTo>
                  <a:pt x="66746" y="0"/>
                </a:lnTo>
                <a:lnTo>
                  <a:pt x="71438" y="0"/>
                </a:lnTo>
                <a:lnTo>
                  <a:pt x="4052887" y="0"/>
                </a:lnTo>
                <a:lnTo>
                  <a:pt x="4057577" y="0"/>
                </a:lnTo>
                <a:lnTo>
                  <a:pt x="4062222" y="457"/>
                </a:lnTo>
                <a:lnTo>
                  <a:pt x="4100083" y="17606"/>
                </a:lnTo>
                <a:lnTo>
                  <a:pt x="4112282" y="31748"/>
                </a:lnTo>
                <a:lnTo>
                  <a:pt x="4114889" y="35649"/>
                </a:lnTo>
                <a:lnTo>
                  <a:pt x="4117090" y="39765"/>
                </a:lnTo>
                <a:lnTo>
                  <a:pt x="4118884" y="44098"/>
                </a:lnTo>
                <a:lnTo>
                  <a:pt x="4120679" y="48432"/>
                </a:lnTo>
                <a:lnTo>
                  <a:pt x="4124325" y="71437"/>
                </a:lnTo>
                <a:lnTo>
                  <a:pt x="4124325" y="1995487"/>
                </a:lnTo>
                <a:lnTo>
                  <a:pt x="4124323" y="2000177"/>
                </a:lnTo>
                <a:lnTo>
                  <a:pt x="4123865" y="2004822"/>
                </a:lnTo>
                <a:lnTo>
                  <a:pt x="4122949" y="2009422"/>
                </a:lnTo>
                <a:lnTo>
                  <a:pt x="4122034" y="2014023"/>
                </a:lnTo>
                <a:lnTo>
                  <a:pt x="4120679" y="2018490"/>
                </a:lnTo>
                <a:lnTo>
                  <a:pt x="4118884" y="2022824"/>
                </a:lnTo>
                <a:lnTo>
                  <a:pt x="4117090" y="2027157"/>
                </a:lnTo>
                <a:lnTo>
                  <a:pt x="4114889" y="2031274"/>
                </a:lnTo>
                <a:lnTo>
                  <a:pt x="4112282" y="2035174"/>
                </a:lnTo>
                <a:lnTo>
                  <a:pt x="4109677" y="2039075"/>
                </a:lnTo>
                <a:lnTo>
                  <a:pt x="4092573" y="2054884"/>
                </a:lnTo>
                <a:lnTo>
                  <a:pt x="4088673" y="2057490"/>
                </a:lnTo>
                <a:lnTo>
                  <a:pt x="4066822" y="2065551"/>
                </a:lnTo>
                <a:lnTo>
                  <a:pt x="4062222" y="2066467"/>
                </a:lnTo>
                <a:lnTo>
                  <a:pt x="4057577" y="2066924"/>
                </a:lnTo>
                <a:lnTo>
                  <a:pt x="4052887" y="2066924"/>
                </a:lnTo>
                <a:lnTo>
                  <a:pt x="71438" y="2066924"/>
                </a:lnTo>
                <a:lnTo>
                  <a:pt x="66746" y="2066924"/>
                </a:lnTo>
                <a:lnTo>
                  <a:pt x="62101" y="2066467"/>
                </a:lnTo>
                <a:lnTo>
                  <a:pt x="57500" y="2065551"/>
                </a:lnTo>
                <a:lnTo>
                  <a:pt x="52899" y="2064635"/>
                </a:lnTo>
                <a:lnTo>
                  <a:pt x="31748" y="2054884"/>
                </a:lnTo>
                <a:lnTo>
                  <a:pt x="27847" y="2052278"/>
                </a:lnTo>
                <a:lnTo>
                  <a:pt x="3642" y="2018490"/>
                </a:lnTo>
                <a:lnTo>
                  <a:pt x="1371" y="2009422"/>
                </a:lnTo>
                <a:lnTo>
                  <a:pt x="456" y="2004822"/>
                </a:lnTo>
                <a:lnTo>
                  <a:pt x="0" y="2000177"/>
                </a:lnTo>
                <a:lnTo>
                  <a:pt x="0" y="19954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4549" y="781049"/>
            <a:ext cx="4133849" cy="20764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08479" y="1567439"/>
            <a:ext cx="15011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Traffic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performance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8479" y="1871588"/>
            <a:ext cx="3635375" cy="5556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87500"/>
              </a:lnSpc>
              <a:spcBef>
                <a:spcPts val="325"/>
              </a:spcBef>
            </a:pP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Max</a:t>
            </a:r>
            <a:r>
              <a:rPr sz="1250" spc="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Healthcare</a:t>
            </a:r>
            <a:r>
              <a:rPr sz="1250" spc="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dominates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 with</a:t>
            </a:r>
            <a:r>
              <a:rPr sz="1250" spc="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2</a:t>
            </a:r>
            <a:r>
              <a:rPr sz="110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300</a:t>
            </a:r>
            <a:r>
              <a:rPr sz="110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000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visitors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,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followed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by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Fortis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with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899</a:t>
            </a:r>
            <a:r>
              <a:rPr sz="110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400</a:t>
            </a:r>
            <a:r>
              <a:rPr sz="110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100" spc="-50" dirty="0">
                <a:solidFill>
                  <a:srgbClr val="96948B"/>
                </a:solidFill>
                <a:latin typeface="Microsoft YaHei"/>
                <a:cs typeface="Microsoft YaHei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while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Newsweek </a:t>
            </a:r>
            <a:r>
              <a:rPr sz="1250" spc="-75" dirty="0">
                <a:solidFill>
                  <a:srgbClr val="96948B"/>
                </a:solidFill>
                <a:latin typeface="Arial MT"/>
                <a:cs typeface="Arial MT"/>
              </a:rPr>
              <a:t>has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87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500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39310" y="785812"/>
            <a:ext cx="4124325" cy="2066925"/>
          </a:xfrm>
          <a:custGeom>
            <a:avLst/>
            <a:gdLst/>
            <a:ahLst/>
            <a:cxnLst/>
            <a:rect l="l" t="t" r="r" b="b"/>
            <a:pathLst>
              <a:path w="4124325" h="2066925">
                <a:moveTo>
                  <a:pt x="0" y="1995487"/>
                </a:moveTo>
                <a:lnTo>
                  <a:pt x="0" y="71437"/>
                </a:lnTo>
                <a:lnTo>
                  <a:pt x="0" y="66746"/>
                </a:lnTo>
                <a:lnTo>
                  <a:pt x="456" y="62101"/>
                </a:lnTo>
                <a:lnTo>
                  <a:pt x="17605" y="24240"/>
                </a:lnTo>
                <a:lnTo>
                  <a:pt x="20922" y="20923"/>
                </a:lnTo>
                <a:lnTo>
                  <a:pt x="24239" y="17606"/>
                </a:lnTo>
                <a:lnTo>
                  <a:pt x="44097" y="5437"/>
                </a:lnTo>
                <a:lnTo>
                  <a:pt x="48431" y="3642"/>
                </a:lnTo>
                <a:lnTo>
                  <a:pt x="52899" y="2287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8" y="0"/>
                </a:lnTo>
                <a:lnTo>
                  <a:pt x="4052887" y="0"/>
                </a:lnTo>
                <a:lnTo>
                  <a:pt x="4057577" y="0"/>
                </a:lnTo>
                <a:lnTo>
                  <a:pt x="4062222" y="457"/>
                </a:lnTo>
                <a:lnTo>
                  <a:pt x="4066823" y="1372"/>
                </a:lnTo>
                <a:lnTo>
                  <a:pt x="4071422" y="2287"/>
                </a:lnTo>
                <a:lnTo>
                  <a:pt x="4075889" y="3642"/>
                </a:lnTo>
                <a:lnTo>
                  <a:pt x="4080223" y="5437"/>
                </a:lnTo>
                <a:lnTo>
                  <a:pt x="4084556" y="7232"/>
                </a:lnTo>
                <a:lnTo>
                  <a:pt x="4088672" y="9433"/>
                </a:lnTo>
                <a:lnTo>
                  <a:pt x="4092573" y="12039"/>
                </a:lnTo>
                <a:lnTo>
                  <a:pt x="4096474" y="14645"/>
                </a:lnTo>
                <a:lnTo>
                  <a:pt x="4112282" y="31748"/>
                </a:lnTo>
                <a:lnTo>
                  <a:pt x="4114889" y="35648"/>
                </a:lnTo>
                <a:lnTo>
                  <a:pt x="4117090" y="39765"/>
                </a:lnTo>
                <a:lnTo>
                  <a:pt x="4118884" y="44099"/>
                </a:lnTo>
                <a:lnTo>
                  <a:pt x="4120679" y="48433"/>
                </a:lnTo>
                <a:lnTo>
                  <a:pt x="4124325" y="71437"/>
                </a:lnTo>
                <a:lnTo>
                  <a:pt x="4124325" y="1995487"/>
                </a:lnTo>
                <a:lnTo>
                  <a:pt x="4124323" y="2000177"/>
                </a:lnTo>
                <a:lnTo>
                  <a:pt x="4123865" y="2004823"/>
                </a:lnTo>
                <a:lnTo>
                  <a:pt x="4122949" y="2009423"/>
                </a:lnTo>
                <a:lnTo>
                  <a:pt x="4122034" y="2014024"/>
                </a:lnTo>
                <a:lnTo>
                  <a:pt x="4120679" y="2018491"/>
                </a:lnTo>
                <a:lnTo>
                  <a:pt x="4118884" y="2022824"/>
                </a:lnTo>
                <a:lnTo>
                  <a:pt x="4117090" y="2027158"/>
                </a:lnTo>
                <a:lnTo>
                  <a:pt x="4114889" y="2031275"/>
                </a:lnTo>
                <a:lnTo>
                  <a:pt x="4112282" y="2035175"/>
                </a:lnTo>
                <a:lnTo>
                  <a:pt x="4109677" y="2039075"/>
                </a:lnTo>
                <a:lnTo>
                  <a:pt x="4092573" y="2054885"/>
                </a:lnTo>
                <a:lnTo>
                  <a:pt x="4088673" y="2057490"/>
                </a:lnTo>
                <a:lnTo>
                  <a:pt x="4066822" y="2065551"/>
                </a:lnTo>
                <a:lnTo>
                  <a:pt x="4062222" y="2066467"/>
                </a:lnTo>
                <a:lnTo>
                  <a:pt x="4057577" y="2066924"/>
                </a:lnTo>
                <a:lnTo>
                  <a:pt x="4052887" y="2066924"/>
                </a:lnTo>
                <a:lnTo>
                  <a:pt x="71438" y="2066924"/>
                </a:lnTo>
                <a:lnTo>
                  <a:pt x="66746" y="2066924"/>
                </a:lnTo>
                <a:lnTo>
                  <a:pt x="62101" y="2066467"/>
                </a:lnTo>
                <a:lnTo>
                  <a:pt x="31748" y="2054885"/>
                </a:lnTo>
                <a:lnTo>
                  <a:pt x="27847" y="2052279"/>
                </a:lnTo>
                <a:lnTo>
                  <a:pt x="12038" y="2035175"/>
                </a:lnTo>
                <a:lnTo>
                  <a:pt x="9432" y="2031275"/>
                </a:lnTo>
                <a:lnTo>
                  <a:pt x="0" y="2000177"/>
                </a:lnTo>
                <a:lnTo>
                  <a:pt x="0" y="19954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4549" y="3009899"/>
            <a:ext cx="4133849" cy="20764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08479" y="3700876"/>
            <a:ext cx="3476625" cy="9550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85"/>
              </a:spcBef>
            </a:pP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Mobile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optimization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87500"/>
              </a:lnSpc>
              <a:spcBef>
                <a:spcPts val="905"/>
              </a:spcBef>
            </a:pP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Max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Healthcare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excels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with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 perfect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100</a:t>
            </a:r>
            <a:r>
              <a:rPr sz="1100" spc="-55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100</a:t>
            </a:r>
            <a:r>
              <a:rPr sz="1250" spc="-1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mobile scores</a:t>
            </a:r>
            <a:r>
              <a:rPr sz="1100" spc="-30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100" spc="-55" dirty="0">
                <a:solidFill>
                  <a:srgbClr val="96948B"/>
                </a:solidFill>
                <a:latin typeface="Microsoft YaHei"/>
                <a:cs typeface="Microsoft YaHei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while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Fortis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lags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at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28</a:t>
            </a:r>
            <a:r>
              <a:rPr sz="1100" spc="-25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100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with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poor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mobile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friendliness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39310" y="3014662"/>
            <a:ext cx="4124325" cy="2066925"/>
          </a:xfrm>
          <a:custGeom>
            <a:avLst/>
            <a:gdLst/>
            <a:ahLst/>
            <a:cxnLst/>
            <a:rect l="l" t="t" r="r" b="b"/>
            <a:pathLst>
              <a:path w="4124325" h="2066925">
                <a:moveTo>
                  <a:pt x="0" y="1995487"/>
                </a:moveTo>
                <a:lnTo>
                  <a:pt x="0" y="71437"/>
                </a:lnTo>
                <a:lnTo>
                  <a:pt x="0" y="66746"/>
                </a:lnTo>
                <a:lnTo>
                  <a:pt x="456" y="62101"/>
                </a:lnTo>
                <a:lnTo>
                  <a:pt x="12038" y="31748"/>
                </a:lnTo>
                <a:lnTo>
                  <a:pt x="14643" y="27848"/>
                </a:lnTo>
                <a:lnTo>
                  <a:pt x="17605" y="24240"/>
                </a:lnTo>
                <a:lnTo>
                  <a:pt x="20922" y="20923"/>
                </a:lnTo>
                <a:lnTo>
                  <a:pt x="24239" y="17606"/>
                </a:lnTo>
                <a:lnTo>
                  <a:pt x="62101" y="457"/>
                </a:lnTo>
                <a:lnTo>
                  <a:pt x="66746" y="0"/>
                </a:lnTo>
                <a:lnTo>
                  <a:pt x="71438" y="0"/>
                </a:lnTo>
                <a:lnTo>
                  <a:pt x="4052887" y="0"/>
                </a:lnTo>
                <a:lnTo>
                  <a:pt x="4057577" y="0"/>
                </a:lnTo>
                <a:lnTo>
                  <a:pt x="4062222" y="457"/>
                </a:lnTo>
                <a:lnTo>
                  <a:pt x="4100083" y="17606"/>
                </a:lnTo>
                <a:lnTo>
                  <a:pt x="4112282" y="31748"/>
                </a:lnTo>
                <a:lnTo>
                  <a:pt x="4114889" y="35649"/>
                </a:lnTo>
                <a:lnTo>
                  <a:pt x="4117090" y="39765"/>
                </a:lnTo>
                <a:lnTo>
                  <a:pt x="4118884" y="44099"/>
                </a:lnTo>
                <a:lnTo>
                  <a:pt x="4120679" y="48433"/>
                </a:lnTo>
                <a:lnTo>
                  <a:pt x="4124325" y="71437"/>
                </a:lnTo>
                <a:lnTo>
                  <a:pt x="4124325" y="1995487"/>
                </a:lnTo>
                <a:lnTo>
                  <a:pt x="4124323" y="2000177"/>
                </a:lnTo>
                <a:lnTo>
                  <a:pt x="4123865" y="2004823"/>
                </a:lnTo>
                <a:lnTo>
                  <a:pt x="4122949" y="2009423"/>
                </a:lnTo>
                <a:lnTo>
                  <a:pt x="4122034" y="2014023"/>
                </a:lnTo>
                <a:lnTo>
                  <a:pt x="4120679" y="2018491"/>
                </a:lnTo>
                <a:lnTo>
                  <a:pt x="4118884" y="2022824"/>
                </a:lnTo>
                <a:lnTo>
                  <a:pt x="4117090" y="2027158"/>
                </a:lnTo>
                <a:lnTo>
                  <a:pt x="4114889" y="2031275"/>
                </a:lnTo>
                <a:lnTo>
                  <a:pt x="4112282" y="2035175"/>
                </a:lnTo>
                <a:lnTo>
                  <a:pt x="4109677" y="2039075"/>
                </a:lnTo>
                <a:lnTo>
                  <a:pt x="4092573" y="2054884"/>
                </a:lnTo>
                <a:lnTo>
                  <a:pt x="4088673" y="2057490"/>
                </a:lnTo>
                <a:lnTo>
                  <a:pt x="4084557" y="2059691"/>
                </a:lnTo>
                <a:lnTo>
                  <a:pt x="4080224" y="2061486"/>
                </a:lnTo>
                <a:lnTo>
                  <a:pt x="4075890" y="2063281"/>
                </a:lnTo>
                <a:lnTo>
                  <a:pt x="4071423" y="2064636"/>
                </a:lnTo>
                <a:lnTo>
                  <a:pt x="4066822" y="2065551"/>
                </a:lnTo>
                <a:lnTo>
                  <a:pt x="4062222" y="2066466"/>
                </a:lnTo>
                <a:lnTo>
                  <a:pt x="4057577" y="2066924"/>
                </a:lnTo>
                <a:lnTo>
                  <a:pt x="4052887" y="2066924"/>
                </a:lnTo>
                <a:lnTo>
                  <a:pt x="71438" y="2066924"/>
                </a:lnTo>
                <a:lnTo>
                  <a:pt x="66746" y="2066924"/>
                </a:lnTo>
                <a:lnTo>
                  <a:pt x="62101" y="2066466"/>
                </a:lnTo>
                <a:lnTo>
                  <a:pt x="57500" y="2065551"/>
                </a:lnTo>
                <a:lnTo>
                  <a:pt x="52899" y="2064636"/>
                </a:lnTo>
                <a:lnTo>
                  <a:pt x="48432" y="2063281"/>
                </a:lnTo>
                <a:lnTo>
                  <a:pt x="44099" y="2061486"/>
                </a:lnTo>
                <a:lnTo>
                  <a:pt x="39765" y="2059691"/>
                </a:lnTo>
                <a:lnTo>
                  <a:pt x="35648" y="2057490"/>
                </a:lnTo>
                <a:lnTo>
                  <a:pt x="31748" y="2054884"/>
                </a:lnTo>
                <a:lnTo>
                  <a:pt x="27847" y="2052279"/>
                </a:lnTo>
                <a:lnTo>
                  <a:pt x="3642" y="2018491"/>
                </a:lnTo>
                <a:lnTo>
                  <a:pt x="1371" y="2009423"/>
                </a:lnTo>
                <a:lnTo>
                  <a:pt x="456" y="2004823"/>
                </a:lnTo>
                <a:lnTo>
                  <a:pt x="0" y="2000177"/>
                </a:lnTo>
                <a:lnTo>
                  <a:pt x="0" y="1995487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hlinkClick r:id="rId3"/>
          </p:cNvPr>
          <p:cNvSpPr/>
          <p:nvPr/>
        </p:nvSpPr>
        <p:spPr>
          <a:xfrm>
            <a:off x="12553949" y="114299"/>
            <a:ext cx="1733550" cy="381000"/>
          </a:xfrm>
          <a:custGeom>
            <a:avLst/>
            <a:gdLst/>
            <a:ahLst/>
            <a:cxnLst/>
            <a:rect l="l" t="t" r="r" b="b"/>
            <a:pathLst>
              <a:path w="1733550" h="381000">
                <a:moveTo>
                  <a:pt x="1657349" y="380999"/>
                </a:moveTo>
                <a:lnTo>
                  <a:pt x="76199" y="380999"/>
                </a:lnTo>
                <a:lnTo>
                  <a:pt x="68693" y="380637"/>
                </a:lnTo>
                <a:lnTo>
                  <a:pt x="27882" y="363732"/>
                </a:lnTo>
                <a:lnTo>
                  <a:pt x="3262" y="326886"/>
                </a:lnTo>
                <a:lnTo>
                  <a:pt x="0" y="30479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1657349" y="0"/>
                </a:lnTo>
                <a:lnTo>
                  <a:pt x="1699691" y="12830"/>
                </a:lnTo>
                <a:lnTo>
                  <a:pt x="1727749" y="47039"/>
                </a:lnTo>
                <a:lnTo>
                  <a:pt x="1733549" y="76199"/>
                </a:lnTo>
                <a:lnTo>
                  <a:pt x="1733549" y="304799"/>
                </a:lnTo>
                <a:lnTo>
                  <a:pt x="1720719" y="347142"/>
                </a:lnTo>
                <a:lnTo>
                  <a:pt x="1686509" y="375199"/>
                </a:lnTo>
                <a:lnTo>
                  <a:pt x="1657349" y="380999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0699" y="962024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00352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2"/>
                </a:lnTo>
                <a:lnTo>
                  <a:pt x="0" y="195552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00352" y="0"/>
                </a:lnTo>
                <a:lnTo>
                  <a:pt x="532433" y="28187"/>
                </a:lnTo>
                <a:lnTo>
                  <a:pt x="533399" y="33047"/>
                </a:lnTo>
                <a:lnTo>
                  <a:pt x="533399" y="195552"/>
                </a:lnTo>
                <a:lnTo>
                  <a:pt x="505212" y="227632"/>
                </a:lnTo>
                <a:lnTo>
                  <a:pt x="500352" y="228599"/>
                </a:lnTo>
                <a:close/>
              </a:path>
            </a:pathLst>
          </a:custGeom>
          <a:solidFill>
            <a:srgbClr val="FFFFFF">
              <a:alpha val="1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34703" y="971613"/>
            <a:ext cx="4457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lys</a:t>
            </a: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77553" y="1100673"/>
            <a:ext cx="5619115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50" spc="-254" dirty="0"/>
              <a:t>Pe</a:t>
            </a:r>
            <a:r>
              <a:rPr spc="-254" dirty="0"/>
              <a:t>r</a:t>
            </a:r>
            <a:r>
              <a:rPr sz="5150" spc="-254" dirty="0"/>
              <a:t>f</a:t>
            </a:r>
            <a:r>
              <a:rPr spc="-254" dirty="0"/>
              <a:t>orm</a:t>
            </a:r>
            <a:r>
              <a:rPr sz="5150" spc="-254" dirty="0"/>
              <a:t>a</a:t>
            </a:r>
            <a:r>
              <a:rPr spc="-254" dirty="0"/>
              <a:t>n</a:t>
            </a:r>
            <a:r>
              <a:rPr sz="5150" spc="-254" dirty="0"/>
              <a:t>ce</a:t>
            </a:r>
            <a:r>
              <a:rPr sz="5150" spc="-305" dirty="0"/>
              <a:t> </a:t>
            </a:r>
            <a:r>
              <a:rPr sz="5150" spc="-285" dirty="0"/>
              <a:t>a</a:t>
            </a:r>
            <a:r>
              <a:rPr spc="-285" dirty="0"/>
              <a:t>n</a:t>
            </a:r>
            <a:r>
              <a:rPr sz="5150" spc="-285" dirty="0"/>
              <a:t>a</a:t>
            </a:r>
            <a:r>
              <a:rPr spc="-285" dirty="0"/>
              <a:t>lys</a:t>
            </a:r>
            <a:r>
              <a:rPr sz="5150" spc="-285" dirty="0"/>
              <a:t>i</a:t>
            </a:r>
            <a:r>
              <a:rPr spc="-285" dirty="0"/>
              <a:t>s</a:t>
            </a:r>
            <a:endParaRPr sz="5150"/>
          </a:p>
        </p:txBody>
      </p:sp>
      <p:sp>
        <p:nvSpPr>
          <p:cNvPr id="5" name="object 5"/>
          <p:cNvSpPr txBox="1"/>
          <p:nvPr/>
        </p:nvSpPr>
        <p:spPr>
          <a:xfrm>
            <a:off x="5645149" y="5936259"/>
            <a:ext cx="86423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Ne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wsw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5149" y="6317259"/>
            <a:ext cx="2919095" cy="11906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40640">
              <a:lnSpc>
                <a:spcPts val="1430"/>
              </a:lnSpc>
              <a:spcBef>
                <a:spcPts val="409"/>
              </a:spcBef>
            </a:pP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st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ab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hed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eb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high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om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ai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n 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ut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su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b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st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ia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bac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kl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nks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endParaRPr sz="1250">
              <a:latin typeface="Sylfaen"/>
              <a:cs typeface="Sylfaen"/>
            </a:endParaRPr>
          </a:p>
          <a:p>
            <a:pPr marL="12700" marR="339090">
              <a:lnSpc>
                <a:spcPts val="1500"/>
              </a:lnSpc>
              <a:spcBef>
                <a:spcPts val="10"/>
              </a:spcBef>
            </a:pP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tr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ff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ic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,</a:t>
            </a:r>
            <a:r>
              <a:rPr sz="1250" spc="-20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he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e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orms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ll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b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ot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bi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d 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sktop</a:t>
            </a:r>
            <a:r>
              <a:rPr sz="1250" spc="-20" dirty="0">
                <a:solidFill>
                  <a:srgbClr val="F2F2F2"/>
                </a:solidFill>
                <a:latin typeface="Sylfaen"/>
                <a:cs typeface="Sylfaen"/>
              </a:rPr>
              <a:t>,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pr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stron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F2F2F2"/>
                </a:solidFill>
                <a:latin typeface="Arial MT"/>
                <a:cs typeface="Arial MT"/>
              </a:rPr>
              <a:t>SEO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un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da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ls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iabi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endParaRPr sz="1250">
              <a:latin typeface="Sylfaen"/>
              <a:cs typeface="Sylfae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8435" y="5936259"/>
            <a:ext cx="122237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Ma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x 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Hea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lt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hca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8435" y="6317259"/>
            <a:ext cx="3141980" cy="11906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40640">
              <a:lnSpc>
                <a:spcPct val="85300"/>
              </a:lnSpc>
              <a:spcBef>
                <a:spcPts val="360"/>
              </a:spcBef>
            </a:pP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Lead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tr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ff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ic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orm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ce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tr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ic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x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ce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ll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nt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bi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 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sktop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 s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igh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tn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-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fa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st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age</a:t>
            </a: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eed</a:t>
            </a:r>
            <a:r>
              <a:rPr sz="1250" spc="-35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r>
              <a:rPr sz="1250" spc="-15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ts 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om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ai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ut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monstr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 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ff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ec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v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eb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opt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z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r>
              <a:rPr sz="1400" spc="-1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ca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n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outp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2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orm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ol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250" spc="-30" dirty="0">
                <a:solidFill>
                  <a:srgbClr val="F2F2F2"/>
                </a:solidFill>
                <a:latin typeface="Sylfaen"/>
                <a:cs typeface="Sylfaen"/>
              </a:rPr>
              <a:t>,</a:t>
            </a:r>
            <a:r>
              <a:rPr sz="1250" spc="15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st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ab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hed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eb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endParaRPr sz="1250">
              <a:latin typeface="Sylfaen"/>
              <a:cs typeface="Sylfae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1714" y="5936259"/>
            <a:ext cx="13258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ort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Hea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lt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hca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1714" y="6317259"/>
            <a:ext cx="3090545" cy="11906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40640">
              <a:lnSpc>
                <a:spcPct val="85300"/>
              </a:lnSpc>
              <a:spcBef>
                <a:spcPts val="360"/>
              </a:spcBef>
            </a:pP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dece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om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ai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ut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250" spc="-30" dirty="0">
                <a:solidFill>
                  <a:srgbClr val="F2F2F2"/>
                </a:solidFill>
                <a:latin typeface="Sylfaen"/>
                <a:cs typeface="Sylfaen"/>
              </a:rPr>
              <a:t>,</a:t>
            </a:r>
            <a:r>
              <a:rPr sz="1250" spc="5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ort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stru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gg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poor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bi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orm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ce</a:t>
            </a:r>
            <a:r>
              <a:rPr sz="1250" spc="-30" dirty="0">
                <a:solidFill>
                  <a:srgbClr val="F2F2F2"/>
                </a:solidFill>
                <a:latin typeface="Sylfaen"/>
                <a:cs typeface="Sylfaen"/>
              </a:rPr>
              <a:t>,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xtr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ly</a:t>
            </a:r>
            <a:r>
              <a:rPr sz="140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slow</a:t>
            </a:r>
            <a:r>
              <a:rPr sz="140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age</a:t>
            </a:r>
            <a:r>
              <a:rPr sz="145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eed</a:t>
            </a:r>
            <a:r>
              <a:rPr sz="1250" spc="-35" dirty="0">
                <a:solidFill>
                  <a:srgbClr val="F2F2F2"/>
                </a:solidFill>
                <a:latin typeface="Sylfaen"/>
                <a:cs typeface="Sylfaen"/>
              </a:rPr>
              <a:t>,</a:t>
            </a:r>
            <a:r>
              <a:rPr sz="1250" spc="-15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v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rtu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lly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no 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bac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kl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nks</a:t>
            </a:r>
            <a:r>
              <a:rPr sz="1250" spc="-40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r>
              <a:rPr sz="1250" spc="-45" dirty="0">
                <a:solidFill>
                  <a:srgbClr val="F2F2F2"/>
                </a:solidFill>
                <a:latin typeface="Sylfaen"/>
                <a:cs typeface="Sylfaen"/>
              </a:rPr>
              <a:t> </a:t>
            </a:r>
            <a:r>
              <a:rPr sz="1450" spc="-80" dirty="0">
                <a:solidFill>
                  <a:srgbClr val="F2F2F2"/>
                </a:solidFill>
                <a:latin typeface="Arial MT"/>
                <a:cs typeface="Arial MT"/>
              </a:rPr>
              <a:t>The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8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tr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ic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dica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ur</a:t>
            </a:r>
            <a:r>
              <a:rPr sz="1450" spc="-30" dirty="0">
                <a:solidFill>
                  <a:srgbClr val="F2F2F2"/>
                </a:solidFill>
                <a:latin typeface="Arial MT"/>
                <a:cs typeface="Arial MT"/>
              </a:rPr>
              <a:t>ge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eed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opt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z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to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mprov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e 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us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xp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ie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ce 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6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5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40" dirty="0">
                <a:solidFill>
                  <a:srgbClr val="F2F2F2"/>
                </a:solidFill>
                <a:latin typeface="Arial MT"/>
                <a:cs typeface="Arial MT"/>
              </a:rPr>
              <a:t>SEO</a:t>
            </a:r>
            <a:r>
              <a:rPr sz="145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v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ibi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250" spc="-10" dirty="0">
                <a:solidFill>
                  <a:srgbClr val="F2F2F2"/>
                </a:solidFill>
                <a:latin typeface="Sylfaen"/>
                <a:cs typeface="Sylfaen"/>
              </a:rPr>
              <a:t>.</a:t>
            </a:r>
            <a:endParaRPr sz="1250">
              <a:latin typeface="Sylfaen"/>
              <a:cs typeface="Sylfae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2200275"/>
            <a:ext cx="3276599" cy="3648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7850" y="2200275"/>
            <a:ext cx="3276599" cy="36480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2625" y="2200275"/>
            <a:ext cx="3276599" cy="3648074"/>
          </a:xfrm>
          <a:prstGeom prst="rect">
            <a:avLst/>
          </a:prstGeom>
        </p:spPr>
      </p:pic>
      <p:sp>
        <p:nvSpPr>
          <p:cNvPr id="14" name="object 14">
            <a:hlinkClick r:id="rId5"/>
          </p:cNvPr>
          <p:cNvSpPr/>
          <p:nvPr/>
        </p:nvSpPr>
        <p:spPr>
          <a:xfrm>
            <a:off x="12553949" y="114299"/>
            <a:ext cx="1733550" cy="381000"/>
          </a:xfrm>
          <a:custGeom>
            <a:avLst/>
            <a:gdLst/>
            <a:ahLst/>
            <a:cxnLst/>
            <a:rect l="l" t="t" r="r" b="b"/>
            <a:pathLst>
              <a:path w="1733550" h="381000">
                <a:moveTo>
                  <a:pt x="1657349" y="380999"/>
                </a:moveTo>
                <a:lnTo>
                  <a:pt x="76199" y="380999"/>
                </a:lnTo>
                <a:lnTo>
                  <a:pt x="68693" y="380637"/>
                </a:lnTo>
                <a:lnTo>
                  <a:pt x="27882" y="363732"/>
                </a:lnTo>
                <a:lnTo>
                  <a:pt x="3262" y="326886"/>
                </a:lnTo>
                <a:lnTo>
                  <a:pt x="0" y="304799"/>
                </a:lnTo>
                <a:lnTo>
                  <a:pt x="0" y="76199"/>
                </a:lnTo>
                <a:lnTo>
                  <a:pt x="12830" y="33857"/>
                </a:lnTo>
                <a:lnTo>
                  <a:pt x="47039" y="5800"/>
                </a:lnTo>
                <a:lnTo>
                  <a:pt x="76199" y="0"/>
                </a:lnTo>
                <a:lnTo>
                  <a:pt x="1657349" y="0"/>
                </a:lnTo>
                <a:lnTo>
                  <a:pt x="1699691" y="12830"/>
                </a:lnTo>
                <a:lnTo>
                  <a:pt x="1727749" y="47039"/>
                </a:lnTo>
                <a:lnTo>
                  <a:pt x="1733549" y="76199"/>
                </a:lnTo>
                <a:lnTo>
                  <a:pt x="1733549" y="304799"/>
                </a:lnTo>
                <a:lnTo>
                  <a:pt x="1720719" y="347142"/>
                </a:lnTo>
                <a:lnTo>
                  <a:pt x="1686509" y="375199"/>
                </a:lnTo>
                <a:lnTo>
                  <a:pt x="1657349" y="380999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96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2480"/>
              </a:spcBef>
            </a:pPr>
            <a:r>
              <a:rPr sz="5100" spc="-400" dirty="0"/>
              <a:t>Ke</a:t>
            </a:r>
            <a:r>
              <a:rPr spc="-400" dirty="0"/>
              <a:t>y</a:t>
            </a:r>
            <a:r>
              <a:rPr spc="-445" dirty="0"/>
              <a:t> </a:t>
            </a:r>
            <a:r>
              <a:rPr sz="5100" spc="-35" dirty="0"/>
              <a:t>I</a:t>
            </a:r>
            <a:r>
              <a:rPr spc="-35" dirty="0"/>
              <a:t>ns</a:t>
            </a:r>
            <a:r>
              <a:rPr sz="5100" spc="-35" dirty="0"/>
              <a:t>igh</a:t>
            </a:r>
            <a:r>
              <a:rPr spc="-35" dirty="0"/>
              <a:t>ts</a:t>
            </a:r>
            <a:endParaRPr sz="5100"/>
          </a:p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1900" spc="-95" dirty="0"/>
              <a:t>The</a:t>
            </a:r>
            <a:r>
              <a:rPr sz="1900" spc="-75" dirty="0"/>
              <a:t> </a:t>
            </a:r>
            <a:r>
              <a:rPr sz="1900" spc="-35" dirty="0"/>
              <a:t>audit</a:t>
            </a:r>
            <a:r>
              <a:rPr sz="1900" spc="-70" dirty="0"/>
              <a:t> </a:t>
            </a:r>
            <a:r>
              <a:rPr sz="1900" spc="-80" dirty="0"/>
              <a:t>revealed</a:t>
            </a:r>
            <a:r>
              <a:rPr sz="1900" spc="-75" dirty="0"/>
              <a:t> </a:t>
            </a:r>
            <a:r>
              <a:rPr sz="1900" spc="-10" dirty="0"/>
              <a:t>critical</a:t>
            </a:r>
            <a:r>
              <a:rPr sz="1900" spc="-70" dirty="0"/>
              <a:t> </a:t>
            </a:r>
            <a:r>
              <a:rPr sz="1900" spc="-45" dirty="0"/>
              <a:t>patterns</a:t>
            </a:r>
            <a:r>
              <a:rPr sz="1900" spc="-75" dirty="0"/>
              <a:t> across</a:t>
            </a:r>
            <a:r>
              <a:rPr sz="1900" spc="-105" dirty="0"/>
              <a:t> </a:t>
            </a:r>
            <a:r>
              <a:rPr sz="1900" spc="-40" dirty="0"/>
              <a:t>the</a:t>
            </a:r>
            <a:r>
              <a:rPr sz="1900" spc="-70" dirty="0"/>
              <a:t> </a:t>
            </a:r>
            <a:r>
              <a:rPr sz="1900" spc="-65" dirty="0"/>
              <a:t>healthcare</a:t>
            </a:r>
            <a:r>
              <a:rPr sz="1900" spc="-80" dirty="0"/>
              <a:t> </a:t>
            </a:r>
            <a:r>
              <a:rPr sz="1900" spc="-20" dirty="0"/>
              <a:t>digital</a:t>
            </a:r>
            <a:r>
              <a:rPr sz="1900" spc="-70" dirty="0"/>
              <a:t> </a:t>
            </a:r>
            <a:r>
              <a:rPr sz="1900" spc="-30" dirty="0"/>
              <a:t>landscape</a:t>
            </a:r>
            <a:r>
              <a:rPr sz="1700" spc="-30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77324" y="3295649"/>
            <a:ext cx="2686050" cy="3343275"/>
            <a:chOff x="9077324" y="3295649"/>
            <a:chExt cx="2686050" cy="334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7324" y="3295649"/>
              <a:ext cx="2686049" cy="3343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773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45600" y="4043939"/>
            <a:ext cx="1665605" cy="434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330"/>
              </a:spcBef>
            </a:pP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Max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Healthcare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leads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performance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45600" y="4537605"/>
            <a:ext cx="2282190" cy="8896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84100"/>
              </a:lnSpc>
              <a:spcBef>
                <a:spcPts val="340"/>
              </a:spcBef>
            </a:pP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ge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85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he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be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orm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r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fa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sp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eed</a:t>
            </a:r>
            <a:r>
              <a:rPr sz="1100" spc="-35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100" spc="-50" dirty="0">
                <a:solidFill>
                  <a:srgbClr val="96948B"/>
                </a:solidFill>
                <a:latin typeface="Microsoft YaHei"/>
                <a:cs typeface="Microsoft YaHei"/>
              </a:rPr>
              <a:t>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highe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ff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ic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, 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d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x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ce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ll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mo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bi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/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sktop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c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sp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7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not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bei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300" spc="-9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he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ol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om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5600" y="3587750"/>
            <a:ext cx="36830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650" dirty="0">
                <a:solidFill>
                  <a:srgbClr val="FFFFFF"/>
                </a:solidFill>
                <a:latin typeface="Arial MT"/>
                <a:cs typeface="Arial MT"/>
              </a:rPr>
              <a:t>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72560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899"/>
                </a:lnTo>
                <a:lnTo>
                  <a:pt x="3642" y="48433"/>
                </a:lnTo>
                <a:lnTo>
                  <a:pt x="5438" y="44099"/>
                </a:lnTo>
                <a:lnTo>
                  <a:pt x="7232" y="39765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5"/>
                </a:lnTo>
                <a:lnTo>
                  <a:pt x="31749" y="12039"/>
                </a:lnTo>
                <a:lnTo>
                  <a:pt x="35648" y="9433"/>
                </a:lnTo>
                <a:lnTo>
                  <a:pt x="39764" y="7232"/>
                </a:lnTo>
                <a:lnTo>
                  <a:pt x="44099" y="5437"/>
                </a:lnTo>
                <a:lnTo>
                  <a:pt x="48432" y="3642"/>
                </a:lnTo>
                <a:lnTo>
                  <a:pt x="52899" y="2287"/>
                </a:lnTo>
                <a:lnTo>
                  <a:pt x="57499" y="1372"/>
                </a:lnTo>
                <a:lnTo>
                  <a:pt x="62100" y="457"/>
                </a:lnTo>
                <a:lnTo>
                  <a:pt x="66746" y="0"/>
                </a:lnTo>
                <a:lnTo>
                  <a:pt x="71437" y="0"/>
                </a:lnTo>
                <a:lnTo>
                  <a:pt x="2624137" y="0"/>
                </a:lnTo>
                <a:lnTo>
                  <a:pt x="2628827" y="0"/>
                </a:lnTo>
                <a:lnTo>
                  <a:pt x="2633472" y="457"/>
                </a:lnTo>
                <a:lnTo>
                  <a:pt x="2671333" y="17606"/>
                </a:lnTo>
                <a:lnTo>
                  <a:pt x="2683533" y="31748"/>
                </a:lnTo>
                <a:lnTo>
                  <a:pt x="2686140" y="35649"/>
                </a:lnTo>
                <a:lnTo>
                  <a:pt x="2695574" y="66746"/>
                </a:lnTo>
                <a:lnTo>
                  <a:pt x="2695574" y="71437"/>
                </a:lnTo>
                <a:lnTo>
                  <a:pt x="2695574" y="3281362"/>
                </a:lnTo>
                <a:lnTo>
                  <a:pt x="2695574" y="3286052"/>
                </a:lnTo>
                <a:lnTo>
                  <a:pt x="2695116" y="3290698"/>
                </a:lnTo>
                <a:lnTo>
                  <a:pt x="2683533" y="3321049"/>
                </a:lnTo>
                <a:lnTo>
                  <a:pt x="2680927" y="3324950"/>
                </a:lnTo>
                <a:lnTo>
                  <a:pt x="2647139" y="3349156"/>
                </a:lnTo>
                <a:lnTo>
                  <a:pt x="2638072" y="3351426"/>
                </a:lnTo>
                <a:lnTo>
                  <a:pt x="2633472" y="3352341"/>
                </a:lnTo>
                <a:lnTo>
                  <a:pt x="2628827" y="3352798"/>
                </a:lnTo>
                <a:lnTo>
                  <a:pt x="2624137" y="3352799"/>
                </a:lnTo>
                <a:lnTo>
                  <a:pt x="71437" y="3352799"/>
                </a:lnTo>
                <a:lnTo>
                  <a:pt x="66746" y="3352798"/>
                </a:lnTo>
                <a:lnTo>
                  <a:pt x="62100" y="3352341"/>
                </a:lnTo>
                <a:lnTo>
                  <a:pt x="57499" y="3351425"/>
                </a:lnTo>
                <a:lnTo>
                  <a:pt x="52899" y="3350511"/>
                </a:lnTo>
                <a:lnTo>
                  <a:pt x="48432" y="3349156"/>
                </a:lnTo>
                <a:lnTo>
                  <a:pt x="44099" y="3347360"/>
                </a:lnTo>
                <a:lnTo>
                  <a:pt x="39764" y="3345565"/>
                </a:lnTo>
                <a:lnTo>
                  <a:pt x="35648" y="3343365"/>
                </a:lnTo>
                <a:lnTo>
                  <a:pt x="31749" y="3340759"/>
                </a:lnTo>
                <a:lnTo>
                  <a:pt x="27848" y="3338153"/>
                </a:lnTo>
                <a:lnTo>
                  <a:pt x="24240" y="3335192"/>
                </a:lnTo>
                <a:lnTo>
                  <a:pt x="20923" y="3331875"/>
                </a:lnTo>
                <a:lnTo>
                  <a:pt x="17607" y="3328559"/>
                </a:lnTo>
                <a:lnTo>
                  <a:pt x="5437" y="3308699"/>
                </a:lnTo>
                <a:lnTo>
                  <a:pt x="3642" y="3304365"/>
                </a:lnTo>
                <a:lnTo>
                  <a:pt x="2287" y="3299898"/>
                </a:lnTo>
                <a:lnTo>
                  <a:pt x="1372" y="3295298"/>
                </a:lnTo>
                <a:lnTo>
                  <a:pt x="457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828924" y="3295649"/>
            <a:ext cx="2686050" cy="3343275"/>
            <a:chOff x="2828924" y="3295649"/>
            <a:chExt cx="2686050" cy="33432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4" y="3295649"/>
              <a:ext cx="2686049" cy="33432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289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97199" y="4043939"/>
            <a:ext cx="1325880" cy="434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330"/>
              </a:spcBef>
            </a:pP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Fortis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Healthcare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underperforms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97199" y="4537605"/>
            <a:ext cx="2326640" cy="72771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ct val="84900"/>
              </a:lnSpc>
              <a:spcBef>
                <a:spcPts val="330"/>
              </a:spcBef>
            </a:pP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monstr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s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worst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orm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ce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xtr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ly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slow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lo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adi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30" dirty="0">
                <a:solidFill>
                  <a:srgbClr val="96948B"/>
                </a:solidFill>
                <a:latin typeface="Microsoft YaHei"/>
                <a:cs typeface="Microsoft YaHei"/>
              </a:rPr>
              <a:t>,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poor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mo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bi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opt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z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on</a:t>
            </a:r>
            <a:r>
              <a:rPr sz="1100" spc="-25" dirty="0">
                <a:solidFill>
                  <a:srgbClr val="96948B"/>
                </a:solidFill>
                <a:latin typeface="Microsoft YaHei"/>
                <a:cs typeface="Microsoft YaHei"/>
              </a:rPr>
              <a:t>,</a:t>
            </a:r>
            <a:r>
              <a:rPr sz="1100" spc="-40" dirty="0">
                <a:solidFill>
                  <a:srgbClr val="96948B"/>
                </a:solidFill>
                <a:latin typeface="Microsoft YaHei"/>
                <a:cs typeface="Microsoft YaHei"/>
              </a:rPr>
              <a:t> 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a 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c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ompl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ab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60" dirty="0">
                <a:solidFill>
                  <a:srgbClr val="96948B"/>
                </a:solidFill>
                <a:latin typeface="Arial MT"/>
                <a:cs typeface="Arial MT"/>
              </a:rPr>
              <a:t>ce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o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30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bac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kl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nks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7199" y="3469878"/>
            <a:ext cx="3683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320" dirty="0">
                <a:solidFill>
                  <a:srgbClr val="FFFFFF"/>
                </a:solidFill>
                <a:latin typeface="Arial MT"/>
                <a:cs typeface="Arial MT"/>
              </a:rPr>
              <a:t>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24162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899"/>
                </a:lnTo>
                <a:lnTo>
                  <a:pt x="3642" y="48433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66746" y="0"/>
                </a:lnTo>
                <a:lnTo>
                  <a:pt x="71437" y="0"/>
                </a:lnTo>
                <a:lnTo>
                  <a:pt x="2624137" y="0"/>
                </a:lnTo>
                <a:lnTo>
                  <a:pt x="2628828" y="0"/>
                </a:lnTo>
                <a:lnTo>
                  <a:pt x="2633473" y="457"/>
                </a:lnTo>
                <a:lnTo>
                  <a:pt x="2638073" y="1372"/>
                </a:lnTo>
                <a:lnTo>
                  <a:pt x="2642673" y="2287"/>
                </a:lnTo>
                <a:lnTo>
                  <a:pt x="2647140" y="3642"/>
                </a:lnTo>
                <a:lnTo>
                  <a:pt x="2651474" y="5437"/>
                </a:lnTo>
                <a:lnTo>
                  <a:pt x="2655808" y="7232"/>
                </a:lnTo>
                <a:lnTo>
                  <a:pt x="2659925" y="9433"/>
                </a:lnTo>
                <a:lnTo>
                  <a:pt x="2663824" y="12039"/>
                </a:lnTo>
                <a:lnTo>
                  <a:pt x="2667725" y="14645"/>
                </a:lnTo>
                <a:lnTo>
                  <a:pt x="2671334" y="17606"/>
                </a:lnTo>
                <a:lnTo>
                  <a:pt x="2674650" y="20923"/>
                </a:lnTo>
                <a:lnTo>
                  <a:pt x="2677967" y="24240"/>
                </a:lnTo>
                <a:lnTo>
                  <a:pt x="2680928" y="27848"/>
                </a:lnTo>
                <a:lnTo>
                  <a:pt x="2683534" y="31748"/>
                </a:lnTo>
                <a:lnTo>
                  <a:pt x="2686140" y="35649"/>
                </a:lnTo>
                <a:lnTo>
                  <a:pt x="2694201" y="57500"/>
                </a:lnTo>
                <a:lnTo>
                  <a:pt x="2695116" y="62101"/>
                </a:lnTo>
                <a:lnTo>
                  <a:pt x="2695574" y="66746"/>
                </a:lnTo>
                <a:lnTo>
                  <a:pt x="2695574" y="71437"/>
                </a:lnTo>
                <a:lnTo>
                  <a:pt x="2695574" y="3281362"/>
                </a:lnTo>
                <a:lnTo>
                  <a:pt x="2695574" y="3286052"/>
                </a:lnTo>
                <a:lnTo>
                  <a:pt x="2695116" y="3290698"/>
                </a:lnTo>
                <a:lnTo>
                  <a:pt x="2694201" y="3295298"/>
                </a:lnTo>
                <a:lnTo>
                  <a:pt x="2693286" y="3299898"/>
                </a:lnTo>
                <a:lnTo>
                  <a:pt x="2683534" y="3321049"/>
                </a:lnTo>
                <a:lnTo>
                  <a:pt x="2680928" y="3324950"/>
                </a:lnTo>
                <a:lnTo>
                  <a:pt x="2677967" y="3328559"/>
                </a:lnTo>
                <a:lnTo>
                  <a:pt x="2674650" y="3331875"/>
                </a:lnTo>
                <a:lnTo>
                  <a:pt x="2671334" y="3335192"/>
                </a:lnTo>
                <a:lnTo>
                  <a:pt x="2667725" y="3338153"/>
                </a:lnTo>
                <a:lnTo>
                  <a:pt x="2663825" y="3340759"/>
                </a:lnTo>
                <a:lnTo>
                  <a:pt x="2659925" y="3343365"/>
                </a:lnTo>
                <a:lnTo>
                  <a:pt x="2655808" y="3345565"/>
                </a:lnTo>
                <a:lnTo>
                  <a:pt x="2651474" y="3347360"/>
                </a:lnTo>
                <a:lnTo>
                  <a:pt x="2647140" y="3349156"/>
                </a:lnTo>
                <a:lnTo>
                  <a:pt x="2642673" y="3350511"/>
                </a:lnTo>
                <a:lnTo>
                  <a:pt x="2638073" y="3351426"/>
                </a:lnTo>
                <a:lnTo>
                  <a:pt x="2633473" y="3352341"/>
                </a:lnTo>
                <a:lnTo>
                  <a:pt x="2628828" y="3352798"/>
                </a:lnTo>
                <a:lnTo>
                  <a:pt x="2624137" y="3352799"/>
                </a:lnTo>
                <a:lnTo>
                  <a:pt x="71437" y="3352799"/>
                </a:lnTo>
                <a:lnTo>
                  <a:pt x="66746" y="3352798"/>
                </a:lnTo>
                <a:lnTo>
                  <a:pt x="62101" y="3352341"/>
                </a:lnTo>
                <a:lnTo>
                  <a:pt x="57500" y="3351425"/>
                </a:lnTo>
                <a:lnTo>
                  <a:pt x="52900" y="3350511"/>
                </a:lnTo>
                <a:lnTo>
                  <a:pt x="31748" y="3340759"/>
                </a:lnTo>
                <a:lnTo>
                  <a:pt x="27848" y="3338153"/>
                </a:lnTo>
                <a:lnTo>
                  <a:pt x="24240" y="3335192"/>
                </a:lnTo>
                <a:lnTo>
                  <a:pt x="20923" y="3331875"/>
                </a:lnTo>
                <a:lnTo>
                  <a:pt x="17606" y="3328559"/>
                </a:lnTo>
                <a:lnTo>
                  <a:pt x="1372" y="3295298"/>
                </a:lnTo>
                <a:lnTo>
                  <a:pt x="457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953124" y="3295649"/>
            <a:ext cx="2686050" cy="3343275"/>
            <a:chOff x="5953124" y="3295649"/>
            <a:chExt cx="2686050" cy="33432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3124" y="3295649"/>
              <a:ext cx="2686049" cy="33432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531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21399" y="4043939"/>
            <a:ext cx="2277110" cy="434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330"/>
              </a:spcBef>
            </a:pP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Established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domains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maintain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strength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21399" y="4537605"/>
            <a:ext cx="2308225" cy="10610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ct val="84600"/>
              </a:lnSpc>
              <a:spcBef>
                <a:spcPts val="335"/>
              </a:spcBef>
            </a:pP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Web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k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Ne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wsw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k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stron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125" dirty="0">
                <a:solidFill>
                  <a:srgbClr val="96948B"/>
                </a:solidFill>
                <a:latin typeface="Arial MT"/>
                <a:cs typeface="Arial MT"/>
              </a:rPr>
              <a:t>SEO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f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un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da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m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ls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rou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gh 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ut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h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d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om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c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d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su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b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st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nt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ia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bac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kl</a:t>
            </a:r>
            <a:r>
              <a:rPr sz="1300" spc="-35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nks</a:t>
            </a:r>
            <a:r>
              <a:rPr sz="1100" spc="-35" dirty="0">
                <a:solidFill>
                  <a:srgbClr val="96948B"/>
                </a:solidFill>
                <a:latin typeface="Microsoft YaHei"/>
                <a:cs typeface="Microsoft YaHei"/>
              </a:rPr>
              <a:t>, 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65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n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w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20" dirty="0">
                <a:solidFill>
                  <a:srgbClr val="96948B"/>
                </a:solidFill>
                <a:latin typeface="Arial MT"/>
                <a:cs typeface="Arial MT"/>
              </a:rPr>
              <a:t>h 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c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omp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v</a:t>
            </a:r>
            <a:r>
              <a:rPr sz="1300" spc="-4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ly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mo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de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r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t</a:t>
            </a:r>
            <a:r>
              <a:rPr sz="1300" spc="-5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30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a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ff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ic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ﬁ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g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ur</a:t>
            </a:r>
            <a:r>
              <a:rPr sz="1300" spc="-10" dirty="0">
                <a:solidFill>
                  <a:srgbClr val="96948B"/>
                </a:solidFill>
                <a:latin typeface="Arial MT"/>
                <a:cs typeface="Arial MT"/>
              </a:rPr>
              <a:t>e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100" spc="-10" dirty="0">
                <a:solidFill>
                  <a:srgbClr val="96948B"/>
                </a:solidFill>
                <a:latin typeface="Microsoft YaHei"/>
                <a:cs typeface="Microsoft YaHei"/>
              </a:rPr>
              <a:t>.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1399" y="3469878"/>
            <a:ext cx="3683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320" dirty="0">
                <a:solidFill>
                  <a:srgbClr val="FFFFFF"/>
                </a:solidFill>
                <a:latin typeface="Arial MT"/>
                <a:cs typeface="Arial MT"/>
              </a:rPr>
              <a:t>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48361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6" y="62101"/>
                </a:lnTo>
                <a:lnTo>
                  <a:pt x="17607" y="24240"/>
                </a:lnTo>
                <a:lnTo>
                  <a:pt x="20923" y="20923"/>
                </a:lnTo>
                <a:lnTo>
                  <a:pt x="24239" y="17606"/>
                </a:lnTo>
                <a:lnTo>
                  <a:pt x="27847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66747" y="0"/>
                </a:lnTo>
                <a:lnTo>
                  <a:pt x="71438" y="0"/>
                </a:lnTo>
                <a:lnTo>
                  <a:pt x="2624137" y="0"/>
                </a:lnTo>
                <a:lnTo>
                  <a:pt x="2628828" y="0"/>
                </a:lnTo>
                <a:lnTo>
                  <a:pt x="2633473" y="457"/>
                </a:lnTo>
                <a:lnTo>
                  <a:pt x="2671334" y="17606"/>
                </a:lnTo>
                <a:lnTo>
                  <a:pt x="2674651" y="20923"/>
                </a:lnTo>
                <a:lnTo>
                  <a:pt x="2677968" y="24240"/>
                </a:lnTo>
                <a:lnTo>
                  <a:pt x="2680929" y="27848"/>
                </a:lnTo>
                <a:lnTo>
                  <a:pt x="2683535" y="31748"/>
                </a:lnTo>
                <a:lnTo>
                  <a:pt x="2686141" y="35649"/>
                </a:lnTo>
                <a:lnTo>
                  <a:pt x="2694202" y="57500"/>
                </a:lnTo>
                <a:lnTo>
                  <a:pt x="2695117" y="62101"/>
                </a:lnTo>
                <a:lnTo>
                  <a:pt x="2695575" y="66746"/>
                </a:lnTo>
                <a:lnTo>
                  <a:pt x="2695575" y="71437"/>
                </a:lnTo>
                <a:lnTo>
                  <a:pt x="2695575" y="3281362"/>
                </a:lnTo>
                <a:lnTo>
                  <a:pt x="2695575" y="3286052"/>
                </a:lnTo>
                <a:lnTo>
                  <a:pt x="2695117" y="3290698"/>
                </a:lnTo>
                <a:lnTo>
                  <a:pt x="2694202" y="3295298"/>
                </a:lnTo>
                <a:lnTo>
                  <a:pt x="2693287" y="3299898"/>
                </a:lnTo>
                <a:lnTo>
                  <a:pt x="2691931" y="3304365"/>
                </a:lnTo>
                <a:lnTo>
                  <a:pt x="2690136" y="3308699"/>
                </a:lnTo>
                <a:lnTo>
                  <a:pt x="2688341" y="3313032"/>
                </a:lnTo>
                <a:lnTo>
                  <a:pt x="2686141" y="3317149"/>
                </a:lnTo>
                <a:lnTo>
                  <a:pt x="2683535" y="3321049"/>
                </a:lnTo>
                <a:lnTo>
                  <a:pt x="2680929" y="3324950"/>
                </a:lnTo>
                <a:lnTo>
                  <a:pt x="2677968" y="3328559"/>
                </a:lnTo>
                <a:lnTo>
                  <a:pt x="2674651" y="3331875"/>
                </a:lnTo>
                <a:lnTo>
                  <a:pt x="2671334" y="3335192"/>
                </a:lnTo>
                <a:lnTo>
                  <a:pt x="2667726" y="3338153"/>
                </a:lnTo>
                <a:lnTo>
                  <a:pt x="2663826" y="3340759"/>
                </a:lnTo>
                <a:lnTo>
                  <a:pt x="2659925" y="3343365"/>
                </a:lnTo>
                <a:lnTo>
                  <a:pt x="2638073" y="3351426"/>
                </a:lnTo>
                <a:lnTo>
                  <a:pt x="2633473" y="3352341"/>
                </a:lnTo>
                <a:lnTo>
                  <a:pt x="2628828" y="3352798"/>
                </a:lnTo>
                <a:lnTo>
                  <a:pt x="2624137" y="3352799"/>
                </a:lnTo>
                <a:lnTo>
                  <a:pt x="71438" y="3352799"/>
                </a:lnTo>
                <a:lnTo>
                  <a:pt x="66747" y="3352798"/>
                </a:lnTo>
                <a:lnTo>
                  <a:pt x="62101" y="3352341"/>
                </a:lnTo>
                <a:lnTo>
                  <a:pt x="57501" y="3351425"/>
                </a:lnTo>
                <a:lnTo>
                  <a:pt x="52900" y="3350511"/>
                </a:lnTo>
                <a:lnTo>
                  <a:pt x="31748" y="3340759"/>
                </a:lnTo>
                <a:lnTo>
                  <a:pt x="27847" y="3338153"/>
                </a:lnTo>
                <a:lnTo>
                  <a:pt x="24239" y="3335192"/>
                </a:lnTo>
                <a:lnTo>
                  <a:pt x="20923" y="3331875"/>
                </a:lnTo>
                <a:lnTo>
                  <a:pt x="17607" y="3328559"/>
                </a:lnTo>
                <a:lnTo>
                  <a:pt x="1371" y="3295298"/>
                </a:lnTo>
                <a:lnTo>
                  <a:pt x="456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1123949"/>
            <a:ext cx="1057275" cy="228600"/>
          </a:xfrm>
          <a:custGeom>
            <a:avLst/>
            <a:gdLst/>
            <a:ahLst/>
            <a:cxnLst/>
            <a:rect l="l" t="t" r="r" b="b"/>
            <a:pathLst>
              <a:path w="1057275" h="228600">
                <a:moveTo>
                  <a:pt x="1024227" y="228599"/>
                </a:moveTo>
                <a:lnTo>
                  <a:pt x="33047" y="228599"/>
                </a:lnTo>
                <a:lnTo>
                  <a:pt x="28187" y="227633"/>
                </a:lnTo>
                <a:lnTo>
                  <a:pt x="966" y="200412"/>
                </a:lnTo>
                <a:lnTo>
                  <a:pt x="0" y="195552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24227" y="0"/>
                </a:lnTo>
                <a:lnTo>
                  <a:pt x="1056307" y="28187"/>
                </a:lnTo>
                <a:lnTo>
                  <a:pt x="1057274" y="33047"/>
                </a:lnTo>
                <a:lnTo>
                  <a:pt x="1057274" y="195552"/>
                </a:lnTo>
                <a:lnTo>
                  <a:pt x="1029087" y="227633"/>
                </a:lnTo>
                <a:lnTo>
                  <a:pt x="1024227" y="228599"/>
                </a:lnTo>
                <a:close/>
              </a:path>
            </a:pathLst>
          </a:custGeom>
          <a:solidFill>
            <a:srgbClr val="FFFFFF">
              <a:alpha val="1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675" y="1133538"/>
            <a:ext cx="9734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FFFFFF"/>
                </a:solidFill>
                <a:latin typeface="Arial MT"/>
                <a:cs typeface="Arial MT"/>
              </a:rPr>
              <a:t>Rec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omm</a:t>
            </a:r>
            <a:r>
              <a:rPr sz="950" spc="-2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950" spc="-2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50" spc="-2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ons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6525" y="1262598"/>
            <a:ext cx="3211195" cy="142494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>
              <a:lnSpc>
                <a:spcPct val="77700"/>
              </a:lnSpc>
              <a:spcBef>
                <a:spcPts val="1510"/>
              </a:spcBef>
            </a:pPr>
            <a:r>
              <a:rPr sz="5150" spc="-165" dirty="0"/>
              <a:t>P</a:t>
            </a:r>
            <a:r>
              <a:rPr spc="-165" dirty="0"/>
              <a:t>r</a:t>
            </a:r>
            <a:r>
              <a:rPr sz="5150" spc="-165" dirty="0"/>
              <a:t>e</a:t>
            </a:r>
            <a:r>
              <a:rPr spc="-165" dirty="0"/>
              <a:t>s</a:t>
            </a:r>
            <a:r>
              <a:rPr sz="5150" spc="-165" dirty="0"/>
              <a:t>c</a:t>
            </a:r>
            <a:r>
              <a:rPr spc="-165" dirty="0"/>
              <a:t>r</a:t>
            </a:r>
            <a:r>
              <a:rPr sz="5150" spc="-165" dirty="0"/>
              <a:t>i</a:t>
            </a:r>
            <a:r>
              <a:rPr spc="-165" dirty="0"/>
              <a:t>pt</a:t>
            </a:r>
            <a:r>
              <a:rPr sz="5150" spc="-165" dirty="0"/>
              <a:t>i</a:t>
            </a:r>
            <a:r>
              <a:rPr spc="-165" dirty="0"/>
              <a:t>on </a:t>
            </a:r>
            <a:r>
              <a:rPr sz="5150" spc="-320" dirty="0"/>
              <a:t>P</a:t>
            </a:r>
            <a:r>
              <a:rPr spc="-320" dirty="0"/>
              <a:t>l</a:t>
            </a:r>
            <a:r>
              <a:rPr sz="5150" spc="-320" dirty="0"/>
              <a:t>a</a:t>
            </a:r>
            <a:r>
              <a:rPr spc="-320" dirty="0"/>
              <a:t>n</a:t>
            </a:r>
            <a:endParaRPr sz="5150"/>
          </a:p>
        </p:txBody>
      </p:sp>
      <p:sp>
        <p:nvSpPr>
          <p:cNvPr id="5" name="object 5"/>
          <p:cNvSpPr txBox="1"/>
          <p:nvPr/>
        </p:nvSpPr>
        <p:spPr>
          <a:xfrm>
            <a:off x="936525" y="2893221"/>
            <a:ext cx="3870325" cy="384619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64769">
              <a:lnSpc>
                <a:spcPct val="84400"/>
              </a:lnSpc>
              <a:spcBef>
                <a:spcPts val="455"/>
              </a:spcBef>
            </a:pPr>
            <a:r>
              <a:rPr sz="1950" spc="-114" dirty="0">
                <a:solidFill>
                  <a:srgbClr val="F2F2F2"/>
                </a:solidFill>
                <a:latin typeface="Arial MT"/>
                <a:cs typeface="Arial MT"/>
              </a:rPr>
              <a:t>Ba</a:t>
            </a:r>
            <a:r>
              <a:rPr sz="1900" spc="-114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50" spc="-114" dirty="0">
                <a:solidFill>
                  <a:srgbClr val="F2F2F2"/>
                </a:solidFill>
                <a:latin typeface="Arial MT"/>
                <a:cs typeface="Arial MT"/>
              </a:rPr>
              <a:t>ed</a:t>
            </a:r>
            <a:r>
              <a:rPr sz="1950" spc="-10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r>
              <a:rPr sz="1900" spc="-1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he</a:t>
            </a:r>
            <a:r>
              <a:rPr sz="1950" spc="-10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u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di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ﬁn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di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700" spc="-35" dirty="0">
                <a:solidFill>
                  <a:srgbClr val="F2F2F2"/>
                </a:solidFill>
                <a:latin typeface="Palatino Linotype"/>
                <a:cs typeface="Palatino Linotype"/>
              </a:rPr>
              <a:t>,</a:t>
            </a:r>
            <a:r>
              <a:rPr sz="1700" spc="-40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20" dirty="0">
                <a:solidFill>
                  <a:srgbClr val="F2F2F2"/>
                </a:solidFill>
                <a:latin typeface="Arial MT"/>
                <a:cs typeface="Arial MT"/>
              </a:rPr>
              <a:t>each 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eb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qu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eci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ﬁ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c 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mprov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nts</a:t>
            </a:r>
            <a:r>
              <a:rPr sz="1900" spc="-8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2F2F2"/>
                </a:solidFill>
                <a:latin typeface="Arial MT"/>
                <a:cs typeface="Arial MT"/>
              </a:rPr>
              <a:t>to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opt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z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40" dirty="0">
                <a:solidFill>
                  <a:srgbClr val="F2F2F2"/>
                </a:solidFill>
                <a:latin typeface="Arial MT"/>
                <a:cs typeface="Arial MT"/>
              </a:rPr>
              <a:t>hei</a:t>
            </a:r>
            <a:r>
              <a:rPr sz="1900" spc="-4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digi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l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pr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ce</a:t>
            </a:r>
            <a:r>
              <a:rPr sz="1700" spc="-10" dirty="0">
                <a:solidFill>
                  <a:srgbClr val="F2F2F2"/>
                </a:solidFill>
                <a:latin typeface="Palatino Linotype"/>
                <a:cs typeface="Palatino Linotype"/>
              </a:rPr>
              <a:t>.</a:t>
            </a:r>
            <a:endParaRPr sz="1700">
              <a:latin typeface="Palatino Linotype"/>
              <a:cs typeface="Palatino Linotype"/>
            </a:endParaRPr>
          </a:p>
          <a:p>
            <a:pPr marL="12700" marR="118110">
              <a:lnSpc>
                <a:spcPct val="84600"/>
              </a:lnSpc>
              <a:spcBef>
                <a:spcPts val="2000"/>
              </a:spcBef>
            </a:pP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ort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Hea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lt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hca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700" spc="-70" dirty="0">
                <a:solidFill>
                  <a:srgbClr val="F2F2F2"/>
                </a:solidFill>
                <a:latin typeface="Palatino Linotype"/>
                <a:cs typeface="Palatino Linotype"/>
              </a:rPr>
              <a:t>:</a:t>
            </a:r>
            <a:r>
              <a:rPr sz="1700" spc="5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mprov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11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950" spc="-20" dirty="0">
                <a:solidFill>
                  <a:srgbClr val="F2F2F2"/>
                </a:solidFill>
                <a:latin typeface="Arial MT"/>
                <a:cs typeface="Arial MT"/>
              </a:rPr>
              <a:t>age 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sp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eed</a:t>
            </a:r>
            <a:r>
              <a:rPr sz="1700" spc="-70" dirty="0">
                <a:solidFill>
                  <a:srgbClr val="F2F2F2"/>
                </a:solidFill>
                <a:latin typeface="Palatino Linotype"/>
                <a:cs typeface="Palatino Linotype"/>
              </a:rPr>
              <a:t>,</a:t>
            </a:r>
            <a:r>
              <a:rPr sz="1700" spc="-5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opt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z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3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900" spc="-30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900" spc="-10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mo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bi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700" spc="-50" dirty="0">
                <a:solidFill>
                  <a:srgbClr val="F2F2F2"/>
                </a:solidFill>
                <a:latin typeface="Palatino Linotype"/>
                <a:cs typeface="Palatino Linotype"/>
              </a:rPr>
              <a:t>,</a:t>
            </a:r>
            <a:r>
              <a:rPr sz="1700" spc="-5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ea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 </a:t>
            </a:r>
            <a:r>
              <a:rPr sz="1950" spc="-60" dirty="0">
                <a:solidFill>
                  <a:srgbClr val="F2F2F2"/>
                </a:solidFill>
                <a:latin typeface="Arial MT"/>
                <a:cs typeface="Arial MT"/>
              </a:rPr>
              <a:t>bac</a:t>
            </a:r>
            <a:r>
              <a:rPr sz="1900" spc="-60" dirty="0">
                <a:solidFill>
                  <a:srgbClr val="F2F2F2"/>
                </a:solidFill>
                <a:latin typeface="Arial MT"/>
                <a:cs typeface="Arial MT"/>
              </a:rPr>
              <a:t>kl</a:t>
            </a:r>
            <a:r>
              <a:rPr sz="1950" spc="-6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60" dirty="0">
                <a:solidFill>
                  <a:srgbClr val="F2F2F2"/>
                </a:solidFill>
                <a:latin typeface="Arial MT"/>
                <a:cs typeface="Arial MT"/>
              </a:rPr>
              <a:t>nks</a:t>
            </a:r>
            <a:r>
              <a:rPr sz="1700" spc="-60" dirty="0">
                <a:solidFill>
                  <a:srgbClr val="F2F2F2"/>
                </a:solidFill>
                <a:latin typeface="Palatino Linotype"/>
                <a:cs typeface="Palatino Linotype"/>
              </a:rPr>
              <a:t>,</a:t>
            </a:r>
            <a:r>
              <a:rPr sz="1700" spc="-30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ha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ce </a:t>
            </a:r>
            <a:r>
              <a:rPr sz="1950" spc="-195" dirty="0">
                <a:solidFill>
                  <a:srgbClr val="F2F2F2"/>
                </a:solidFill>
                <a:latin typeface="Arial MT"/>
                <a:cs typeface="Arial MT"/>
              </a:rPr>
              <a:t>SEO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900" spc="-25" dirty="0">
                <a:solidFill>
                  <a:srgbClr val="F2F2F2"/>
                </a:solidFill>
                <a:latin typeface="Arial MT"/>
                <a:cs typeface="Arial MT"/>
              </a:rPr>
              <a:t>ont</a:t>
            </a:r>
            <a:r>
              <a:rPr sz="1950" spc="-2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25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700" spc="-25" dirty="0">
                <a:solidFill>
                  <a:srgbClr val="F2F2F2"/>
                </a:solidFill>
                <a:latin typeface="Palatino Linotype"/>
                <a:cs typeface="Palatino Linotype"/>
              </a:rPr>
              <a:t>. </a:t>
            </a:r>
            <a:r>
              <a:rPr sz="1950" spc="-75" dirty="0">
                <a:solidFill>
                  <a:srgbClr val="F2F2F2"/>
                </a:solidFill>
                <a:latin typeface="Arial MT"/>
                <a:cs typeface="Arial MT"/>
              </a:rPr>
              <a:t>Ma</a:t>
            </a:r>
            <a:r>
              <a:rPr sz="1900" spc="-75" dirty="0">
                <a:solidFill>
                  <a:srgbClr val="F2F2F2"/>
                </a:solidFill>
                <a:latin typeface="Arial MT"/>
                <a:cs typeface="Arial MT"/>
              </a:rPr>
              <a:t>x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Hea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lt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hca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700" spc="-70" dirty="0">
                <a:solidFill>
                  <a:srgbClr val="F2F2F2"/>
                </a:solidFill>
                <a:latin typeface="Palatino Linotype"/>
                <a:cs typeface="Palatino Linotype"/>
              </a:rPr>
              <a:t>:</a:t>
            </a:r>
            <a:r>
              <a:rPr sz="1700" spc="10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70" dirty="0">
                <a:solidFill>
                  <a:srgbClr val="F2F2F2"/>
                </a:solidFill>
                <a:latin typeface="Arial MT"/>
                <a:cs typeface="Arial MT"/>
              </a:rPr>
              <a:t>mprov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10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om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ai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n 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ut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or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ty</a:t>
            </a:r>
            <a:r>
              <a:rPr sz="1900" spc="-1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rou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gh</a:t>
            </a:r>
            <a:r>
              <a:rPr sz="195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nk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b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u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di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95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2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25" dirty="0">
                <a:solidFill>
                  <a:srgbClr val="F2F2F2"/>
                </a:solidFill>
                <a:latin typeface="Arial MT"/>
                <a:cs typeface="Arial MT"/>
              </a:rPr>
              <a:t>d 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ont</a:t>
            </a:r>
            <a:r>
              <a:rPr sz="1950" spc="-3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35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900" spc="-8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opt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z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r>
              <a:rPr sz="1700" spc="-10" dirty="0">
                <a:solidFill>
                  <a:srgbClr val="F2F2F2"/>
                </a:solidFill>
                <a:latin typeface="Palatino Linotype"/>
                <a:cs typeface="Palatino Linotype"/>
              </a:rPr>
              <a:t>.</a:t>
            </a:r>
            <a:endParaRPr sz="1700">
              <a:latin typeface="Palatino Linotype"/>
              <a:cs typeface="Palatino Linotype"/>
            </a:endParaRPr>
          </a:p>
          <a:p>
            <a:pPr marL="12700">
              <a:lnSpc>
                <a:spcPts val="1789"/>
              </a:lnSpc>
            </a:pPr>
            <a:r>
              <a:rPr sz="1950" spc="-60" dirty="0">
                <a:solidFill>
                  <a:srgbClr val="F2F2F2"/>
                </a:solidFill>
                <a:latin typeface="Arial MT"/>
                <a:cs typeface="Arial MT"/>
              </a:rPr>
              <a:t>Ne</a:t>
            </a:r>
            <a:r>
              <a:rPr sz="1900" spc="-60" dirty="0">
                <a:solidFill>
                  <a:srgbClr val="F2F2F2"/>
                </a:solidFill>
                <a:latin typeface="Arial MT"/>
                <a:cs typeface="Arial MT"/>
              </a:rPr>
              <a:t>wsw</a:t>
            </a:r>
            <a:r>
              <a:rPr sz="1950" spc="-60" dirty="0">
                <a:solidFill>
                  <a:srgbClr val="F2F2F2"/>
                </a:solidFill>
                <a:latin typeface="Arial MT"/>
                <a:cs typeface="Arial MT"/>
              </a:rPr>
              <a:t>ee</a:t>
            </a:r>
            <a:r>
              <a:rPr sz="1900" spc="-60" dirty="0">
                <a:solidFill>
                  <a:srgbClr val="F2F2F2"/>
                </a:solidFill>
                <a:latin typeface="Arial MT"/>
                <a:cs typeface="Arial MT"/>
              </a:rPr>
              <a:t>k</a:t>
            </a:r>
            <a:r>
              <a:rPr sz="1700" spc="-60" dirty="0">
                <a:solidFill>
                  <a:srgbClr val="F2F2F2"/>
                </a:solidFill>
                <a:latin typeface="Palatino Linotype"/>
                <a:cs typeface="Palatino Linotype"/>
              </a:rPr>
              <a:t>:</a:t>
            </a:r>
            <a:r>
              <a:rPr sz="1700" spc="15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ea</a:t>
            </a:r>
            <a:r>
              <a:rPr sz="1900" spc="-9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950" spc="-9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8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80" dirty="0">
                <a:solidFill>
                  <a:srgbClr val="F2F2F2"/>
                </a:solidFill>
                <a:latin typeface="Arial MT"/>
                <a:cs typeface="Arial MT"/>
              </a:rPr>
              <a:t>gage</a:t>
            </a: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m</a:t>
            </a:r>
            <a:r>
              <a:rPr sz="1950" spc="-8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80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900" spc="-8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4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4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endParaRPr sz="1950">
              <a:latin typeface="Arial MT"/>
              <a:cs typeface="Arial MT"/>
            </a:endParaRPr>
          </a:p>
          <a:p>
            <a:pPr marL="12700" marR="316865">
              <a:lnSpc>
                <a:spcPct val="84900"/>
              </a:lnSpc>
              <a:spcBef>
                <a:spcPts val="195"/>
              </a:spcBef>
            </a:pPr>
            <a:r>
              <a:rPr sz="1900" spc="-30" dirty="0">
                <a:solidFill>
                  <a:srgbClr val="F2F2F2"/>
                </a:solidFill>
                <a:latin typeface="Arial MT"/>
                <a:cs typeface="Arial MT"/>
              </a:rPr>
              <a:t>tr</a:t>
            </a:r>
            <a:r>
              <a:rPr sz="1950" spc="-3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30" dirty="0">
                <a:solidFill>
                  <a:srgbClr val="F2F2F2"/>
                </a:solidFill>
                <a:latin typeface="Arial MT"/>
                <a:cs typeface="Arial MT"/>
              </a:rPr>
              <a:t>ff</a:t>
            </a:r>
            <a:r>
              <a:rPr sz="1950" spc="-30" dirty="0">
                <a:solidFill>
                  <a:srgbClr val="F2F2F2"/>
                </a:solidFill>
                <a:latin typeface="Arial MT"/>
                <a:cs typeface="Arial MT"/>
              </a:rPr>
              <a:t>ic</a:t>
            </a:r>
            <a:r>
              <a:rPr sz="1950" spc="-11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900" spc="-50" dirty="0">
                <a:solidFill>
                  <a:srgbClr val="F2F2F2"/>
                </a:solidFill>
                <a:latin typeface="Arial MT"/>
                <a:cs typeface="Arial MT"/>
              </a:rPr>
              <a:t>rou</a:t>
            </a:r>
            <a:r>
              <a:rPr sz="1950" spc="-50" dirty="0">
                <a:solidFill>
                  <a:srgbClr val="F2F2F2"/>
                </a:solidFill>
                <a:latin typeface="Arial MT"/>
                <a:cs typeface="Arial MT"/>
              </a:rPr>
              <a:t>gh</a:t>
            </a:r>
            <a:r>
              <a:rPr sz="195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up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da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ed</a:t>
            </a:r>
            <a:r>
              <a:rPr sz="195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ont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nt</a:t>
            </a:r>
            <a:r>
              <a:rPr sz="1700" spc="-10" dirty="0">
                <a:solidFill>
                  <a:srgbClr val="F2F2F2"/>
                </a:solidFill>
                <a:latin typeface="Palatino Linotype"/>
                <a:cs typeface="Palatino Linotype"/>
              </a:rPr>
              <a:t>, </a:t>
            </a:r>
            <a:r>
              <a:rPr sz="1950" spc="-40" dirty="0">
                <a:solidFill>
                  <a:srgbClr val="F2F2F2"/>
                </a:solidFill>
                <a:latin typeface="Arial MT"/>
                <a:cs typeface="Arial MT"/>
              </a:rPr>
              <a:t>be</a:t>
            </a:r>
            <a:r>
              <a:rPr sz="1900" spc="-40" dirty="0">
                <a:solidFill>
                  <a:srgbClr val="F2F2F2"/>
                </a:solidFill>
                <a:latin typeface="Arial MT"/>
                <a:cs typeface="Arial MT"/>
              </a:rPr>
              <a:t>tt</a:t>
            </a:r>
            <a:r>
              <a:rPr sz="19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4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00" spc="-114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130" dirty="0">
                <a:solidFill>
                  <a:srgbClr val="F2F2F2"/>
                </a:solidFill>
                <a:latin typeface="Arial MT"/>
                <a:cs typeface="Arial MT"/>
              </a:rPr>
              <a:t>UX</a:t>
            </a:r>
            <a:r>
              <a:rPr sz="1700" spc="-130" dirty="0">
                <a:solidFill>
                  <a:srgbClr val="F2F2F2"/>
                </a:solidFill>
                <a:latin typeface="Palatino Linotype"/>
                <a:cs typeface="Palatino Linotype"/>
              </a:rPr>
              <a:t>,</a:t>
            </a:r>
            <a:r>
              <a:rPr sz="1700" spc="-20" dirty="0">
                <a:solidFill>
                  <a:srgbClr val="F2F2F2"/>
                </a:solidFill>
                <a:latin typeface="Palatino Linotype"/>
                <a:cs typeface="Palatino Linotype"/>
              </a:rPr>
              <a:t> 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900" spc="-9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9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95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fa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st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00" spc="-114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lo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adi</a:t>
            </a:r>
            <a:r>
              <a:rPr sz="1900" spc="-65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950" spc="-6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950" spc="-11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w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he</a:t>
            </a:r>
            <a:r>
              <a:rPr sz="1900" spc="-5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950" spc="-55" dirty="0">
                <a:solidFill>
                  <a:srgbClr val="F2F2F2"/>
                </a:solidFill>
                <a:latin typeface="Arial MT"/>
                <a:cs typeface="Arial MT"/>
              </a:rPr>
              <a:t>e 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poss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ib</a:t>
            </a:r>
            <a:r>
              <a:rPr sz="1900" spc="-10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950" spc="-1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700" spc="-10" dirty="0">
                <a:solidFill>
                  <a:srgbClr val="F2F2F2"/>
                </a:solidFill>
                <a:latin typeface="Palatino Linotype"/>
                <a:cs typeface="Palatino Linotype"/>
              </a:rPr>
              <a:t>.</a:t>
            </a:r>
            <a:endParaRPr sz="1700">
              <a:latin typeface="Palatino Linotype"/>
              <a:cs typeface="Palatino Linotyp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5450" y="828675"/>
            <a:ext cx="2705099" cy="3533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5450" y="4514850"/>
            <a:ext cx="2705099" cy="2762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2950" y="828675"/>
            <a:ext cx="5276849" cy="6448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1724" y="828674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00352" y="228599"/>
                </a:moveTo>
                <a:lnTo>
                  <a:pt x="33047" y="228599"/>
                </a:lnTo>
                <a:lnTo>
                  <a:pt x="28187" y="227633"/>
                </a:lnTo>
                <a:lnTo>
                  <a:pt x="966" y="200412"/>
                </a:lnTo>
                <a:lnTo>
                  <a:pt x="0" y="195552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00352" y="0"/>
                </a:lnTo>
                <a:lnTo>
                  <a:pt x="532433" y="28187"/>
                </a:lnTo>
                <a:lnTo>
                  <a:pt x="533399" y="33047"/>
                </a:lnTo>
                <a:lnTo>
                  <a:pt x="533399" y="195552"/>
                </a:lnTo>
                <a:lnTo>
                  <a:pt x="505212" y="227633"/>
                </a:lnTo>
                <a:lnTo>
                  <a:pt x="500352" y="228599"/>
                </a:lnTo>
                <a:close/>
              </a:path>
            </a:pathLst>
          </a:custGeom>
          <a:solidFill>
            <a:srgbClr val="FFFFFF">
              <a:alpha val="1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16174" y="838263"/>
            <a:ext cx="4457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lys</a:t>
            </a:r>
            <a:r>
              <a:rPr sz="950" spc="-3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59024" y="978540"/>
            <a:ext cx="43630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100" spc="-140" dirty="0"/>
              <a:t>Digi</a:t>
            </a:r>
            <a:r>
              <a:rPr spc="-140" dirty="0"/>
              <a:t>t</a:t>
            </a:r>
            <a:r>
              <a:rPr sz="5100" spc="-140" dirty="0"/>
              <a:t>a</a:t>
            </a:r>
            <a:r>
              <a:rPr spc="-140" dirty="0"/>
              <a:t>l</a:t>
            </a:r>
            <a:r>
              <a:rPr spc="-320" dirty="0"/>
              <a:t> </a:t>
            </a:r>
            <a:r>
              <a:rPr sz="5100" spc="-175" dirty="0"/>
              <a:t>diag</a:t>
            </a:r>
            <a:r>
              <a:rPr spc="-175" dirty="0"/>
              <a:t>nos</a:t>
            </a:r>
            <a:r>
              <a:rPr sz="5100" spc="-175" dirty="0"/>
              <a:t>i</a:t>
            </a:r>
            <a:r>
              <a:rPr spc="-175" dirty="0"/>
              <a:t>s</a:t>
            </a:r>
            <a:endParaRPr sz="5100"/>
          </a:p>
        </p:txBody>
      </p:sp>
      <p:sp>
        <p:nvSpPr>
          <p:cNvPr id="5" name="object 5"/>
          <p:cNvSpPr txBox="1"/>
          <p:nvPr/>
        </p:nvSpPr>
        <p:spPr>
          <a:xfrm>
            <a:off x="7359650" y="6453764"/>
            <a:ext cx="4177029" cy="9963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ct val="88200"/>
              </a:lnSpc>
              <a:spcBef>
                <a:spcPts val="330"/>
              </a:spcBef>
            </a:pP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The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website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audit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highlights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clear</a:t>
            </a:r>
            <a:r>
              <a:rPr sz="1400" spc="-8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strengths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and 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weaknesses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of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each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hospital</a:t>
            </a:r>
            <a:r>
              <a:rPr sz="1250" spc="-25" dirty="0">
                <a:solidFill>
                  <a:srgbClr val="F2F2F2"/>
                </a:solidFill>
                <a:latin typeface="Times New Roman"/>
                <a:cs typeface="Times New Roman"/>
              </a:rPr>
              <a:t>'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online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presence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.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Performance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metrics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-15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traffic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statistics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15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backlink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proﬁles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,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mobile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optimization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-20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and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page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speed</a:t>
            </a:r>
            <a:r>
              <a:rPr sz="140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emerge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as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key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factors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9024" y="6453764"/>
            <a:ext cx="4262755" cy="80581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ct val="87800"/>
              </a:lnSpc>
              <a:spcBef>
                <a:spcPts val="335"/>
              </a:spcBef>
            </a:pP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By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addressing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their</a:t>
            </a:r>
            <a:r>
              <a:rPr sz="1400" spc="-6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respective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weaknesses</a:t>
            </a:r>
            <a:r>
              <a:rPr sz="1250" spc="-45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these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hospitals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 can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signiﬁcantly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improve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their</a:t>
            </a:r>
            <a:r>
              <a:rPr sz="14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visibility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2F2F2"/>
                </a:solidFill>
                <a:latin typeface="Arial MT"/>
                <a:cs typeface="Arial MT"/>
              </a:rPr>
              <a:t>user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experience</a:t>
            </a:r>
            <a:r>
              <a:rPr sz="1250" spc="-25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and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ultimately</a:t>
            </a:r>
            <a:r>
              <a:rPr sz="1250" spc="-25" dirty="0">
                <a:solidFill>
                  <a:srgbClr val="F2F2F2"/>
                </a:solidFill>
                <a:latin typeface="Times New Roman"/>
                <a:cs typeface="Times New Roman"/>
              </a:rPr>
              <a:t>,</a:t>
            </a:r>
            <a:r>
              <a:rPr sz="1250" spc="-30" dirty="0">
                <a:solidFill>
                  <a:srgbClr val="F2F2F2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their</a:t>
            </a:r>
            <a:r>
              <a:rPr sz="1400" spc="-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ability</a:t>
            </a:r>
            <a:r>
              <a:rPr sz="140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to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attract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patients in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an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2F2F2"/>
                </a:solidFill>
                <a:latin typeface="Arial MT"/>
                <a:cs typeface="Arial MT"/>
              </a:rPr>
              <a:t>increasingly</a:t>
            </a:r>
            <a:r>
              <a:rPr sz="1400" spc="-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2F2F2"/>
                </a:solidFill>
                <a:latin typeface="Arial MT"/>
                <a:cs typeface="Arial MT"/>
              </a:rPr>
              <a:t>digital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2F2F2"/>
                </a:solidFill>
                <a:latin typeface="Arial MT"/>
                <a:cs typeface="Arial MT"/>
              </a:rPr>
              <a:t>healthcare</a:t>
            </a:r>
            <a:r>
              <a:rPr sz="1400" spc="-5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marketplace</a:t>
            </a:r>
            <a:r>
              <a:rPr sz="1250" spc="-10" dirty="0">
                <a:solidFill>
                  <a:srgbClr val="F2F2F2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5" y="2143125"/>
            <a:ext cx="4848224" cy="42195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2350" y="2143125"/>
            <a:ext cx="4848224" cy="42195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385"/>
              </a:spcBef>
            </a:pPr>
            <a:r>
              <a:rPr sz="5150" spc="-315" dirty="0"/>
              <a:t>Tha</a:t>
            </a:r>
            <a:r>
              <a:rPr spc="-315" dirty="0"/>
              <a:t>nk</a:t>
            </a:r>
            <a:r>
              <a:rPr spc="-520" dirty="0"/>
              <a:t> </a:t>
            </a:r>
            <a:r>
              <a:rPr spc="-25" dirty="0"/>
              <a:t>you</a:t>
            </a:r>
            <a:endParaRPr sz="5150"/>
          </a:p>
          <a:p>
            <a:pPr marL="12700" marR="5080" algn="ctr">
              <a:lnSpc>
                <a:spcPts val="1950"/>
              </a:lnSpc>
              <a:spcBef>
                <a:spcPts val="1235"/>
              </a:spcBef>
            </a:pPr>
            <a:r>
              <a:rPr sz="1950" spc="-85" dirty="0"/>
              <a:t>Thi</a:t>
            </a:r>
            <a:r>
              <a:rPr sz="1900" spc="-85" dirty="0"/>
              <a:t>s</a:t>
            </a:r>
            <a:r>
              <a:rPr sz="1900" spc="-100" dirty="0"/>
              <a:t> </a:t>
            </a:r>
            <a:r>
              <a:rPr sz="1900" spc="-50" dirty="0"/>
              <a:t>w</a:t>
            </a:r>
            <a:r>
              <a:rPr sz="1950" spc="-50" dirty="0"/>
              <a:t>eb</a:t>
            </a:r>
            <a:r>
              <a:rPr sz="1900" spc="-50" dirty="0"/>
              <a:t>s</a:t>
            </a:r>
            <a:r>
              <a:rPr sz="1950" spc="-50" dirty="0"/>
              <a:t>i</a:t>
            </a:r>
            <a:r>
              <a:rPr sz="1900" spc="-50" dirty="0"/>
              <a:t>t</a:t>
            </a:r>
            <a:r>
              <a:rPr sz="1950" spc="-50" dirty="0"/>
              <a:t>e</a:t>
            </a:r>
            <a:r>
              <a:rPr sz="1950" spc="-80" dirty="0"/>
              <a:t> </a:t>
            </a:r>
            <a:r>
              <a:rPr sz="1950" spc="-50" dirty="0"/>
              <a:t>a</a:t>
            </a:r>
            <a:r>
              <a:rPr sz="1900" spc="-50" dirty="0"/>
              <a:t>u</a:t>
            </a:r>
            <a:r>
              <a:rPr sz="1950" spc="-50" dirty="0"/>
              <a:t>di</a:t>
            </a:r>
            <a:r>
              <a:rPr sz="1900" spc="-50" dirty="0"/>
              <a:t>t</a:t>
            </a:r>
            <a:r>
              <a:rPr sz="1950" spc="-50" dirty="0"/>
              <a:t>i</a:t>
            </a:r>
            <a:r>
              <a:rPr sz="1900" spc="-50" dirty="0"/>
              <a:t>n</a:t>
            </a:r>
            <a:r>
              <a:rPr sz="1950" spc="-50" dirty="0"/>
              <a:t>g</a:t>
            </a:r>
            <a:r>
              <a:rPr sz="1950" spc="-80" dirty="0"/>
              <a:t> </a:t>
            </a:r>
            <a:r>
              <a:rPr sz="1950" spc="-90" dirty="0"/>
              <a:t>e</a:t>
            </a:r>
            <a:r>
              <a:rPr sz="1900" spc="-90" dirty="0"/>
              <a:t>x</a:t>
            </a:r>
            <a:r>
              <a:rPr sz="1950" spc="-90" dirty="0"/>
              <a:t>e</a:t>
            </a:r>
            <a:r>
              <a:rPr sz="1900" spc="-90" dirty="0"/>
              <a:t>r</a:t>
            </a:r>
            <a:r>
              <a:rPr sz="1950" spc="-90" dirty="0"/>
              <a:t>ci</a:t>
            </a:r>
            <a:r>
              <a:rPr sz="1900" spc="-90" dirty="0"/>
              <a:t>s</a:t>
            </a:r>
            <a:r>
              <a:rPr sz="1950" spc="-90" dirty="0"/>
              <a:t>e</a:t>
            </a:r>
            <a:r>
              <a:rPr sz="1950" spc="-80" dirty="0"/>
              <a:t> </a:t>
            </a:r>
            <a:r>
              <a:rPr sz="1950" spc="-70" dirty="0"/>
              <a:t>he</a:t>
            </a:r>
            <a:r>
              <a:rPr sz="1900" spc="-70" dirty="0"/>
              <a:t>lp</a:t>
            </a:r>
            <a:r>
              <a:rPr sz="1950" spc="-70" dirty="0"/>
              <a:t>ed</a:t>
            </a:r>
            <a:r>
              <a:rPr sz="1950" spc="-85" dirty="0"/>
              <a:t> </a:t>
            </a:r>
            <a:r>
              <a:rPr sz="1900" spc="-105" dirty="0"/>
              <a:t>m</a:t>
            </a:r>
            <a:r>
              <a:rPr sz="1950" spc="-105" dirty="0"/>
              <a:t>e</a:t>
            </a:r>
            <a:r>
              <a:rPr sz="1950" spc="-80" dirty="0"/>
              <a:t> </a:t>
            </a:r>
            <a:r>
              <a:rPr sz="1900" spc="-70" dirty="0"/>
              <a:t>un</a:t>
            </a:r>
            <a:r>
              <a:rPr sz="1950" spc="-70" dirty="0"/>
              <a:t>de</a:t>
            </a:r>
            <a:r>
              <a:rPr sz="1900" spc="-70" dirty="0"/>
              <a:t>rst</a:t>
            </a:r>
            <a:r>
              <a:rPr sz="1950" spc="-70" dirty="0"/>
              <a:t>a</a:t>
            </a:r>
            <a:r>
              <a:rPr sz="1900" spc="-70" dirty="0"/>
              <a:t>n</a:t>
            </a:r>
            <a:r>
              <a:rPr sz="1950" spc="-70" dirty="0"/>
              <a:t>d</a:t>
            </a:r>
            <a:r>
              <a:rPr sz="1950" spc="-80" dirty="0"/>
              <a:t> </a:t>
            </a:r>
            <a:r>
              <a:rPr sz="1900" spc="-65" dirty="0"/>
              <a:t>p</a:t>
            </a:r>
            <a:r>
              <a:rPr sz="1950" spc="-65" dirty="0"/>
              <a:t>e</a:t>
            </a:r>
            <a:r>
              <a:rPr sz="1900" spc="-65" dirty="0"/>
              <a:t>r</a:t>
            </a:r>
            <a:r>
              <a:rPr sz="1950" spc="-65" dirty="0"/>
              <a:t>f</a:t>
            </a:r>
            <a:r>
              <a:rPr sz="1900" spc="-65" dirty="0"/>
              <a:t>orm</a:t>
            </a:r>
            <a:r>
              <a:rPr sz="1950" spc="-65" dirty="0"/>
              <a:t>a</a:t>
            </a:r>
            <a:r>
              <a:rPr sz="1900" spc="-65" dirty="0"/>
              <a:t>n</a:t>
            </a:r>
            <a:r>
              <a:rPr sz="1950" spc="-65" dirty="0"/>
              <a:t>ce</a:t>
            </a:r>
            <a:r>
              <a:rPr sz="1950" spc="-80" dirty="0"/>
              <a:t> </a:t>
            </a:r>
            <a:r>
              <a:rPr sz="1900" spc="-45" dirty="0"/>
              <a:t>m</a:t>
            </a:r>
            <a:r>
              <a:rPr sz="1950" spc="-45" dirty="0"/>
              <a:t>e</a:t>
            </a:r>
            <a:r>
              <a:rPr sz="1900" spc="-45" dirty="0"/>
              <a:t>tr</a:t>
            </a:r>
            <a:r>
              <a:rPr sz="1950" spc="-45" dirty="0"/>
              <a:t>ic</a:t>
            </a:r>
            <a:r>
              <a:rPr sz="1900" spc="-45" dirty="0"/>
              <a:t>s</a:t>
            </a:r>
            <a:r>
              <a:rPr sz="1900" spc="-65" dirty="0"/>
              <a:t> </a:t>
            </a:r>
            <a:r>
              <a:rPr sz="1950" spc="-95" dirty="0"/>
              <a:t>a</a:t>
            </a:r>
            <a:r>
              <a:rPr sz="1900" spc="-95" dirty="0"/>
              <a:t>n</a:t>
            </a:r>
            <a:r>
              <a:rPr sz="1950" spc="-95" dirty="0"/>
              <a:t>d</a:t>
            </a:r>
            <a:r>
              <a:rPr sz="1950" spc="-80" dirty="0"/>
              <a:t> </a:t>
            </a:r>
            <a:r>
              <a:rPr sz="1950" spc="-125" dirty="0"/>
              <a:t>SEO </a:t>
            </a:r>
            <a:r>
              <a:rPr sz="1900" spc="-10" dirty="0"/>
              <a:t>str</a:t>
            </a:r>
            <a:r>
              <a:rPr sz="1950" spc="-10" dirty="0"/>
              <a:t>e</a:t>
            </a:r>
            <a:r>
              <a:rPr sz="1900" spc="-10" dirty="0"/>
              <a:t>n</a:t>
            </a:r>
            <a:r>
              <a:rPr sz="1950" spc="-10" dirty="0"/>
              <a:t>g</a:t>
            </a:r>
            <a:r>
              <a:rPr sz="1900" spc="-10" dirty="0"/>
              <a:t>t</a:t>
            </a:r>
            <a:r>
              <a:rPr sz="1950" spc="-10" dirty="0"/>
              <a:t>h</a:t>
            </a:r>
            <a:r>
              <a:rPr sz="1900" spc="-10" dirty="0"/>
              <a:t>s</a:t>
            </a:r>
            <a:r>
              <a:rPr sz="1700" spc="-10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77324" y="3295649"/>
            <a:ext cx="2686050" cy="3343275"/>
            <a:chOff x="9077324" y="3295649"/>
            <a:chExt cx="2686050" cy="334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7324" y="3295649"/>
              <a:ext cx="2686049" cy="3343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773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45600" y="4040784"/>
            <a:ext cx="22923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Web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50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5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f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orm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sz="1450" spc="-40" dirty="0">
                <a:solidFill>
                  <a:srgbClr val="F2F2F2"/>
                </a:solidFill>
                <a:latin typeface="Arial MT"/>
                <a:cs typeface="Arial MT"/>
              </a:rPr>
              <a:t>ce</a:t>
            </a:r>
            <a:r>
              <a:rPr sz="1450" spc="-3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ns</a:t>
            </a:r>
            <a:r>
              <a:rPr sz="1450" spc="-10" dirty="0">
                <a:solidFill>
                  <a:srgbClr val="F2F2F2"/>
                </a:solidFill>
                <a:latin typeface="Arial MT"/>
                <a:cs typeface="Arial MT"/>
              </a:rPr>
              <a:t>igh</a:t>
            </a:r>
            <a:r>
              <a:rPr sz="1400" spc="-10" dirty="0">
                <a:solidFill>
                  <a:srgbClr val="F2F2F2"/>
                </a:solidFill>
                <a:latin typeface="Arial MT"/>
                <a:cs typeface="Arial MT"/>
              </a:rPr>
              <a:t>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45600" y="4349910"/>
            <a:ext cx="2345690" cy="8959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290"/>
              </a:spcBef>
            </a:pP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I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gained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valuable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knowledge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about 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key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metrics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including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domain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authority</a:t>
            </a:r>
            <a:r>
              <a:rPr sz="1100" spc="-20" dirty="0">
                <a:solidFill>
                  <a:srgbClr val="96948B"/>
                </a:solidFill>
                <a:latin typeface="Times New Roman"/>
                <a:cs typeface="Times New Roman"/>
              </a:rPr>
              <a:t>,</a:t>
            </a:r>
            <a:r>
              <a:rPr sz="1100" spc="-15" dirty="0">
                <a:solidFill>
                  <a:srgbClr val="96948B"/>
                </a:solidFill>
                <a:latin typeface="Times New Roman"/>
                <a:cs typeface="Times New Roman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page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authority</a:t>
            </a:r>
            <a:r>
              <a:rPr sz="1100" spc="-10" dirty="0">
                <a:solidFill>
                  <a:srgbClr val="96948B"/>
                </a:solidFill>
                <a:latin typeface="Times New Roman"/>
                <a:cs typeface="Times New Roman"/>
              </a:rPr>
              <a:t>,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backlinks</a:t>
            </a:r>
            <a:r>
              <a:rPr sz="1100" spc="-25" dirty="0">
                <a:solidFill>
                  <a:srgbClr val="96948B"/>
                </a:solidFill>
                <a:latin typeface="Times New Roman"/>
                <a:cs typeface="Times New Roman"/>
              </a:rPr>
              <a:t>,</a:t>
            </a:r>
            <a:r>
              <a:rPr sz="1100" spc="-5" dirty="0">
                <a:solidFill>
                  <a:srgbClr val="96948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traffic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analysis</a:t>
            </a:r>
            <a:r>
              <a:rPr sz="1100" spc="-40" dirty="0">
                <a:solidFill>
                  <a:srgbClr val="96948B"/>
                </a:solidFill>
                <a:latin typeface="Times New Roman"/>
                <a:cs typeface="Times New Roman"/>
              </a:rPr>
              <a:t>,</a:t>
            </a:r>
            <a:r>
              <a:rPr sz="1100" spc="10" dirty="0">
                <a:solidFill>
                  <a:srgbClr val="96948B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and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website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speed</a:t>
            </a:r>
            <a:r>
              <a:rPr sz="1250" spc="-6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performance</a:t>
            </a:r>
            <a:r>
              <a:rPr sz="1100" spc="-10" dirty="0">
                <a:solidFill>
                  <a:srgbClr val="96948B"/>
                </a:solidFill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5600" y="3598465"/>
            <a:ext cx="368300" cy="321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690" dirty="0">
                <a:solidFill>
                  <a:srgbClr val="FFFFFF"/>
                </a:solidFill>
                <a:latin typeface="Arial MT"/>
                <a:cs typeface="Arial MT"/>
              </a:rPr>
              <a:t>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72560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899"/>
                </a:lnTo>
                <a:lnTo>
                  <a:pt x="3642" y="48433"/>
                </a:lnTo>
                <a:lnTo>
                  <a:pt x="5438" y="44099"/>
                </a:lnTo>
                <a:lnTo>
                  <a:pt x="7232" y="39765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5"/>
                </a:lnTo>
                <a:lnTo>
                  <a:pt x="31749" y="12039"/>
                </a:lnTo>
                <a:lnTo>
                  <a:pt x="35648" y="9433"/>
                </a:lnTo>
                <a:lnTo>
                  <a:pt x="39764" y="7232"/>
                </a:lnTo>
                <a:lnTo>
                  <a:pt x="44099" y="5437"/>
                </a:lnTo>
                <a:lnTo>
                  <a:pt x="48432" y="3642"/>
                </a:lnTo>
                <a:lnTo>
                  <a:pt x="52899" y="2287"/>
                </a:lnTo>
                <a:lnTo>
                  <a:pt x="57499" y="1372"/>
                </a:lnTo>
                <a:lnTo>
                  <a:pt x="62100" y="457"/>
                </a:lnTo>
                <a:lnTo>
                  <a:pt x="66746" y="0"/>
                </a:lnTo>
                <a:lnTo>
                  <a:pt x="71437" y="0"/>
                </a:lnTo>
                <a:lnTo>
                  <a:pt x="2624137" y="0"/>
                </a:lnTo>
                <a:lnTo>
                  <a:pt x="2628827" y="0"/>
                </a:lnTo>
                <a:lnTo>
                  <a:pt x="2633472" y="457"/>
                </a:lnTo>
                <a:lnTo>
                  <a:pt x="2671333" y="17606"/>
                </a:lnTo>
                <a:lnTo>
                  <a:pt x="2683533" y="31748"/>
                </a:lnTo>
                <a:lnTo>
                  <a:pt x="2686140" y="35649"/>
                </a:lnTo>
                <a:lnTo>
                  <a:pt x="2695574" y="66746"/>
                </a:lnTo>
                <a:lnTo>
                  <a:pt x="2695574" y="71437"/>
                </a:lnTo>
                <a:lnTo>
                  <a:pt x="2695574" y="3281362"/>
                </a:lnTo>
                <a:lnTo>
                  <a:pt x="2695574" y="3286052"/>
                </a:lnTo>
                <a:lnTo>
                  <a:pt x="2695116" y="3290698"/>
                </a:lnTo>
                <a:lnTo>
                  <a:pt x="2683533" y="3321049"/>
                </a:lnTo>
                <a:lnTo>
                  <a:pt x="2680927" y="3324950"/>
                </a:lnTo>
                <a:lnTo>
                  <a:pt x="2647139" y="3349156"/>
                </a:lnTo>
                <a:lnTo>
                  <a:pt x="2638072" y="3351426"/>
                </a:lnTo>
                <a:lnTo>
                  <a:pt x="2633472" y="3352341"/>
                </a:lnTo>
                <a:lnTo>
                  <a:pt x="2628827" y="3352798"/>
                </a:lnTo>
                <a:lnTo>
                  <a:pt x="2624137" y="3352799"/>
                </a:lnTo>
                <a:lnTo>
                  <a:pt x="71437" y="3352799"/>
                </a:lnTo>
                <a:lnTo>
                  <a:pt x="66746" y="3352798"/>
                </a:lnTo>
                <a:lnTo>
                  <a:pt x="62100" y="3352341"/>
                </a:lnTo>
                <a:lnTo>
                  <a:pt x="57499" y="3351425"/>
                </a:lnTo>
                <a:lnTo>
                  <a:pt x="52899" y="3350511"/>
                </a:lnTo>
                <a:lnTo>
                  <a:pt x="48432" y="3349156"/>
                </a:lnTo>
                <a:lnTo>
                  <a:pt x="44099" y="3347360"/>
                </a:lnTo>
                <a:lnTo>
                  <a:pt x="39764" y="3345565"/>
                </a:lnTo>
                <a:lnTo>
                  <a:pt x="35648" y="3343365"/>
                </a:lnTo>
                <a:lnTo>
                  <a:pt x="31749" y="3340759"/>
                </a:lnTo>
                <a:lnTo>
                  <a:pt x="27848" y="3338153"/>
                </a:lnTo>
                <a:lnTo>
                  <a:pt x="24240" y="3335192"/>
                </a:lnTo>
                <a:lnTo>
                  <a:pt x="20923" y="3331875"/>
                </a:lnTo>
                <a:lnTo>
                  <a:pt x="17607" y="3328559"/>
                </a:lnTo>
                <a:lnTo>
                  <a:pt x="5437" y="3308699"/>
                </a:lnTo>
                <a:lnTo>
                  <a:pt x="3642" y="3304365"/>
                </a:lnTo>
                <a:lnTo>
                  <a:pt x="2287" y="3299898"/>
                </a:lnTo>
                <a:lnTo>
                  <a:pt x="1372" y="3295298"/>
                </a:lnTo>
                <a:lnTo>
                  <a:pt x="457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828924" y="3295649"/>
            <a:ext cx="2686050" cy="3343275"/>
            <a:chOff x="2828924" y="3295649"/>
            <a:chExt cx="2686050" cy="33432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4" y="3295649"/>
              <a:ext cx="2686049" cy="33432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289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97199" y="4040784"/>
            <a:ext cx="11760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35" dirty="0">
                <a:solidFill>
                  <a:srgbClr val="F2F2F2"/>
                </a:solidFill>
                <a:latin typeface="Arial MT"/>
                <a:cs typeface="Arial MT"/>
              </a:rPr>
              <a:t>SEO</a:t>
            </a:r>
            <a:r>
              <a:rPr sz="1450" spc="-7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v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lu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97199" y="4349910"/>
            <a:ext cx="2279015" cy="8959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290"/>
              </a:spcBef>
            </a:pP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audit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revealed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both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strengths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and</a:t>
            </a:r>
            <a:r>
              <a:rPr sz="1250" spc="-7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weaknesses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in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search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engine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optimization</a:t>
            </a:r>
            <a:r>
              <a:rPr sz="1100" spc="-20" dirty="0">
                <a:solidFill>
                  <a:srgbClr val="96948B"/>
                </a:solidFill>
                <a:latin typeface="Times New Roman"/>
                <a:cs typeface="Times New Roman"/>
              </a:rPr>
              <a:t>,</a:t>
            </a:r>
            <a:r>
              <a:rPr sz="1100" spc="15" dirty="0">
                <a:solidFill>
                  <a:srgbClr val="96948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providing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a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comprehensive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view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of</a:t>
            </a:r>
            <a:r>
              <a:rPr sz="1250" spc="-6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the 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website</a:t>
            </a:r>
            <a:r>
              <a:rPr sz="1100" spc="-30" dirty="0">
                <a:solidFill>
                  <a:srgbClr val="96948B"/>
                </a:solidFill>
                <a:latin typeface="Times New Roman"/>
                <a:cs typeface="Times New Roman"/>
              </a:rPr>
              <a:t>'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s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current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positioning</a:t>
            </a:r>
            <a:r>
              <a:rPr sz="1100" spc="-10" dirty="0">
                <a:solidFill>
                  <a:srgbClr val="96948B"/>
                </a:solidFill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7199" y="3565983"/>
            <a:ext cx="368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430" dirty="0">
                <a:solidFill>
                  <a:srgbClr val="FFFFFF"/>
                </a:solidFill>
                <a:latin typeface="Arial MT"/>
                <a:cs typeface="Arial MT"/>
              </a:rPr>
              <a:t>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24162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899"/>
                </a:lnTo>
                <a:lnTo>
                  <a:pt x="3642" y="48433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66746" y="0"/>
                </a:lnTo>
                <a:lnTo>
                  <a:pt x="71437" y="0"/>
                </a:lnTo>
                <a:lnTo>
                  <a:pt x="2624137" y="0"/>
                </a:lnTo>
                <a:lnTo>
                  <a:pt x="2628828" y="0"/>
                </a:lnTo>
                <a:lnTo>
                  <a:pt x="2633473" y="457"/>
                </a:lnTo>
                <a:lnTo>
                  <a:pt x="2638073" y="1372"/>
                </a:lnTo>
                <a:lnTo>
                  <a:pt x="2642673" y="2287"/>
                </a:lnTo>
                <a:lnTo>
                  <a:pt x="2647140" y="3642"/>
                </a:lnTo>
                <a:lnTo>
                  <a:pt x="2651474" y="5437"/>
                </a:lnTo>
                <a:lnTo>
                  <a:pt x="2655808" y="7232"/>
                </a:lnTo>
                <a:lnTo>
                  <a:pt x="2659925" y="9433"/>
                </a:lnTo>
                <a:lnTo>
                  <a:pt x="2663824" y="12039"/>
                </a:lnTo>
                <a:lnTo>
                  <a:pt x="2667725" y="14645"/>
                </a:lnTo>
                <a:lnTo>
                  <a:pt x="2671334" y="17606"/>
                </a:lnTo>
                <a:lnTo>
                  <a:pt x="2674650" y="20923"/>
                </a:lnTo>
                <a:lnTo>
                  <a:pt x="2677967" y="24240"/>
                </a:lnTo>
                <a:lnTo>
                  <a:pt x="2680928" y="27848"/>
                </a:lnTo>
                <a:lnTo>
                  <a:pt x="2683534" y="31748"/>
                </a:lnTo>
                <a:lnTo>
                  <a:pt x="2686140" y="35649"/>
                </a:lnTo>
                <a:lnTo>
                  <a:pt x="2694201" y="57500"/>
                </a:lnTo>
                <a:lnTo>
                  <a:pt x="2695116" y="62101"/>
                </a:lnTo>
                <a:lnTo>
                  <a:pt x="2695574" y="66746"/>
                </a:lnTo>
                <a:lnTo>
                  <a:pt x="2695574" y="71437"/>
                </a:lnTo>
                <a:lnTo>
                  <a:pt x="2695574" y="3281362"/>
                </a:lnTo>
                <a:lnTo>
                  <a:pt x="2695574" y="3286052"/>
                </a:lnTo>
                <a:lnTo>
                  <a:pt x="2695116" y="3290698"/>
                </a:lnTo>
                <a:lnTo>
                  <a:pt x="2694201" y="3295298"/>
                </a:lnTo>
                <a:lnTo>
                  <a:pt x="2693286" y="3299898"/>
                </a:lnTo>
                <a:lnTo>
                  <a:pt x="2683534" y="3321049"/>
                </a:lnTo>
                <a:lnTo>
                  <a:pt x="2680928" y="3324950"/>
                </a:lnTo>
                <a:lnTo>
                  <a:pt x="2677967" y="3328559"/>
                </a:lnTo>
                <a:lnTo>
                  <a:pt x="2674650" y="3331875"/>
                </a:lnTo>
                <a:lnTo>
                  <a:pt x="2671334" y="3335192"/>
                </a:lnTo>
                <a:lnTo>
                  <a:pt x="2667725" y="3338153"/>
                </a:lnTo>
                <a:lnTo>
                  <a:pt x="2663825" y="3340759"/>
                </a:lnTo>
                <a:lnTo>
                  <a:pt x="2659925" y="3343365"/>
                </a:lnTo>
                <a:lnTo>
                  <a:pt x="2655808" y="3345565"/>
                </a:lnTo>
                <a:lnTo>
                  <a:pt x="2651474" y="3347360"/>
                </a:lnTo>
                <a:lnTo>
                  <a:pt x="2647140" y="3349156"/>
                </a:lnTo>
                <a:lnTo>
                  <a:pt x="2642673" y="3350511"/>
                </a:lnTo>
                <a:lnTo>
                  <a:pt x="2638073" y="3351426"/>
                </a:lnTo>
                <a:lnTo>
                  <a:pt x="2633473" y="3352341"/>
                </a:lnTo>
                <a:lnTo>
                  <a:pt x="2628828" y="3352798"/>
                </a:lnTo>
                <a:lnTo>
                  <a:pt x="2624137" y="3352799"/>
                </a:lnTo>
                <a:lnTo>
                  <a:pt x="71437" y="3352799"/>
                </a:lnTo>
                <a:lnTo>
                  <a:pt x="66746" y="3352798"/>
                </a:lnTo>
                <a:lnTo>
                  <a:pt x="62101" y="3352341"/>
                </a:lnTo>
                <a:lnTo>
                  <a:pt x="57500" y="3351425"/>
                </a:lnTo>
                <a:lnTo>
                  <a:pt x="52900" y="3350511"/>
                </a:lnTo>
                <a:lnTo>
                  <a:pt x="31748" y="3340759"/>
                </a:lnTo>
                <a:lnTo>
                  <a:pt x="27848" y="3338153"/>
                </a:lnTo>
                <a:lnTo>
                  <a:pt x="24240" y="3335192"/>
                </a:lnTo>
                <a:lnTo>
                  <a:pt x="20923" y="3331875"/>
                </a:lnTo>
                <a:lnTo>
                  <a:pt x="17606" y="3328559"/>
                </a:lnTo>
                <a:lnTo>
                  <a:pt x="1372" y="3295298"/>
                </a:lnTo>
                <a:lnTo>
                  <a:pt x="457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953124" y="3295649"/>
            <a:ext cx="2686050" cy="3343275"/>
            <a:chOff x="5953124" y="3295649"/>
            <a:chExt cx="2686050" cy="33432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3124" y="3295649"/>
              <a:ext cx="2686049" cy="33432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53124" y="3295649"/>
              <a:ext cx="2686050" cy="3343275"/>
            </a:xfrm>
            <a:custGeom>
              <a:avLst/>
              <a:gdLst/>
              <a:ahLst/>
              <a:cxnLst/>
              <a:rect l="l" t="t" r="r" b="b"/>
              <a:pathLst>
                <a:path w="2686050" h="3343275">
                  <a:moveTo>
                    <a:pt x="2609849" y="3343274"/>
                  </a:moveTo>
                  <a:lnTo>
                    <a:pt x="76199" y="3343274"/>
                  </a:lnTo>
                  <a:lnTo>
                    <a:pt x="68693" y="3342911"/>
                  </a:lnTo>
                  <a:lnTo>
                    <a:pt x="27882" y="3326007"/>
                  </a:lnTo>
                  <a:lnTo>
                    <a:pt x="3262" y="3289161"/>
                  </a:lnTo>
                  <a:lnTo>
                    <a:pt x="0" y="32670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609849" y="0"/>
                  </a:lnTo>
                  <a:lnTo>
                    <a:pt x="2652192" y="12830"/>
                  </a:lnTo>
                  <a:lnTo>
                    <a:pt x="2680249" y="47039"/>
                  </a:lnTo>
                  <a:lnTo>
                    <a:pt x="2686049" y="76199"/>
                  </a:lnTo>
                  <a:lnTo>
                    <a:pt x="2686049" y="3267074"/>
                  </a:lnTo>
                  <a:lnTo>
                    <a:pt x="2673219" y="3309416"/>
                  </a:lnTo>
                  <a:lnTo>
                    <a:pt x="2639010" y="3337473"/>
                  </a:lnTo>
                  <a:lnTo>
                    <a:pt x="2609849" y="3343274"/>
                  </a:lnTo>
                  <a:close/>
                </a:path>
              </a:pathLst>
            </a:custGeom>
            <a:solidFill>
              <a:srgbClr val="050505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21399" y="4040784"/>
            <a:ext cx="172338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P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r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ac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45" dirty="0">
                <a:solidFill>
                  <a:srgbClr val="F2F2F2"/>
                </a:solidFill>
                <a:latin typeface="Arial MT"/>
                <a:cs typeface="Arial MT"/>
              </a:rPr>
              <a:t>ica</a:t>
            </a:r>
            <a:r>
              <a:rPr sz="1400" spc="-45" dirty="0">
                <a:solidFill>
                  <a:srgbClr val="F2F2F2"/>
                </a:solidFill>
                <a:latin typeface="Arial MT"/>
                <a:cs typeface="Arial MT"/>
              </a:rPr>
              <a:t>l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 m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e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h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d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olo</a:t>
            </a:r>
            <a:r>
              <a:rPr sz="1450" spc="-25" dirty="0">
                <a:solidFill>
                  <a:srgbClr val="F2F2F2"/>
                </a:solidFill>
                <a:latin typeface="Arial MT"/>
                <a:cs typeface="Arial MT"/>
              </a:rPr>
              <a:t>g</a:t>
            </a:r>
            <a:r>
              <a:rPr sz="1400" spc="-25" dirty="0">
                <a:solidFill>
                  <a:srgbClr val="F2F2F2"/>
                </a:solidFill>
                <a:latin typeface="Arial MT"/>
                <a:cs typeface="Arial MT"/>
              </a:rPr>
              <a:t>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21399" y="4349910"/>
            <a:ext cx="2127250" cy="8959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290"/>
              </a:spcBef>
            </a:pP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I </a:t>
            </a:r>
            <a:r>
              <a:rPr sz="1250" spc="-35" dirty="0">
                <a:solidFill>
                  <a:srgbClr val="96948B"/>
                </a:solidFill>
                <a:latin typeface="Arial MT"/>
                <a:cs typeface="Arial MT"/>
              </a:rPr>
              <a:t>learned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various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auditing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tools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and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techniques</a:t>
            </a:r>
            <a:r>
              <a:rPr sz="1250" spc="-5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that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96948B"/>
                </a:solidFill>
                <a:latin typeface="Arial MT"/>
                <a:cs typeface="Arial MT"/>
              </a:rPr>
              <a:t>will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be 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valuable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for</a:t>
            </a:r>
            <a:r>
              <a:rPr sz="1250" spc="-7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future</a:t>
            </a:r>
            <a:r>
              <a:rPr sz="1250" spc="-4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projects</a:t>
            </a:r>
            <a:r>
              <a:rPr sz="1250" spc="-40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96948B"/>
                </a:solidFill>
                <a:latin typeface="Arial MT"/>
                <a:cs typeface="Arial MT"/>
              </a:rPr>
              <a:t>and </a:t>
            </a:r>
            <a:r>
              <a:rPr sz="1250" spc="-20" dirty="0">
                <a:solidFill>
                  <a:srgbClr val="96948B"/>
                </a:solidFill>
                <a:latin typeface="Arial MT"/>
                <a:cs typeface="Arial MT"/>
              </a:rPr>
              <a:t>continued</a:t>
            </a:r>
            <a:r>
              <a:rPr sz="1250" spc="-55" dirty="0">
                <a:solidFill>
                  <a:srgbClr val="96948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website</a:t>
            </a:r>
            <a:r>
              <a:rPr sz="1250" spc="-30" dirty="0">
                <a:solidFill>
                  <a:srgbClr val="96948B"/>
                </a:solidFill>
                <a:latin typeface="Arial MT"/>
                <a:cs typeface="Arial MT"/>
              </a:rPr>
              <a:t> optimization </a:t>
            </a:r>
            <a:r>
              <a:rPr sz="1250" spc="-10" dirty="0">
                <a:solidFill>
                  <a:srgbClr val="96948B"/>
                </a:solidFill>
                <a:latin typeface="Arial MT"/>
                <a:cs typeface="Arial MT"/>
              </a:rPr>
              <a:t>efforts</a:t>
            </a:r>
            <a:r>
              <a:rPr sz="1100" spc="-10" dirty="0">
                <a:solidFill>
                  <a:srgbClr val="96948B"/>
                </a:solidFill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1399" y="3609181"/>
            <a:ext cx="36830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780" dirty="0">
                <a:solidFill>
                  <a:srgbClr val="FFFFFF"/>
                </a:solidFill>
                <a:latin typeface="Arial MT"/>
                <a:cs typeface="Arial MT"/>
              </a:rPr>
              <a:t>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48361" y="3290887"/>
            <a:ext cx="2695575" cy="3352800"/>
          </a:xfrm>
          <a:custGeom>
            <a:avLst/>
            <a:gdLst/>
            <a:ahLst/>
            <a:cxnLst/>
            <a:rect l="l" t="t" r="r" b="b"/>
            <a:pathLst>
              <a:path w="2695575" h="3352800">
                <a:moveTo>
                  <a:pt x="0" y="3281362"/>
                </a:moveTo>
                <a:lnTo>
                  <a:pt x="0" y="71437"/>
                </a:lnTo>
                <a:lnTo>
                  <a:pt x="0" y="66746"/>
                </a:lnTo>
                <a:lnTo>
                  <a:pt x="456" y="62101"/>
                </a:lnTo>
                <a:lnTo>
                  <a:pt x="17607" y="24240"/>
                </a:lnTo>
                <a:lnTo>
                  <a:pt x="20923" y="20923"/>
                </a:lnTo>
                <a:lnTo>
                  <a:pt x="24239" y="17606"/>
                </a:lnTo>
                <a:lnTo>
                  <a:pt x="27847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66747" y="0"/>
                </a:lnTo>
                <a:lnTo>
                  <a:pt x="71438" y="0"/>
                </a:lnTo>
                <a:lnTo>
                  <a:pt x="2624137" y="0"/>
                </a:lnTo>
                <a:lnTo>
                  <a:pt x="2628828" y="0"/>
                </a:lnTo>
                <a:lnTo>
                  <a:pt x="2633473" y="457"/>
                </a:lnTo>
                <a:lnTo>
                  <a:pt x="2671334" y="17606"/>
                </a:lnTo>
                <a:lnTo>
                  <a:pt x="2674651" y="20923"/>
                </a:lnTo>
                <a:lnTo>
                  <a:pt x="2677968" y="24240"/>
                </a:lnTo>
                <a:lnTo>
                  <a:pt x="2680929" y="27848"/>
                </a:lnTo>
                <a:lnTo>
                  <a:pt x="2683535" y="31748"/>
                </a:lnTo>
                <a:lnTo>
                  <a:pt x="2686141" y="35649"/>
                </a:lnTo>
                <a:lnTo>
                  <a:pt x="2694202" y="57500"/>
                </a:lnTo>
                <a:lnTo>
                  <a:pt x="2695117" y="62101"/>
                </a:lnTo>
                <a:lnTo>
                  <a:pt x="2695575" y="66746"/>
                </a:lnTo>
                <a:lnTo>
                  <a:pt x="2695575" y="71437"/>
                </a:lnTo>
                <a:lnTo>
                  <a:pt x="2695575" y="3281362"/>
                </a:lnTo>
                <a:lnTo>
                  <a:pt x="2695575" y="3286052"/>
                </a:lnTo>
                <a:lnTo>
                  <a:pt x="2695117" y="3290698"/>
                </a:lnTo>
                <a:lnTo>
                  <a:pt x="2694202" y="3295298"/>
                </a:lnTo>
                <a:lnTo>
                  <a:pt x="2693287" y="3299898"/>
                </a:lnTo>
                <a:lnTo>
                  <a:pt x="2691931" y="3304365"/>
                </a:lnTo>
                <a:lnTo>
                  <a:pt x="2690136" y="3308699"/>
                </a:lnTo>
                <a:lnTo>
                  <a:pt x="2688341" y="3313032"/>
                </a:lnTo>
                <a:lnTo>
                  <a:pt x="2686141" y="3317149"/>
                </a:lnTo>
                <a:lnTo>
                  <a:pt x="2683535" y="3321049"/>
                </a:lnTo>
                <a:lnTo>
                  <a:pt x="2680929" y="3324950"/>
                </a:lnTo>
                <a:lnTo>
                  <a:pt x="2677968" y="3328559"/>
                </a:lnTo>
                <a:lnTo>
                  <a:pt x="2674651" y="3331875"/>
                </a:lnTo>
                <a:lnTo>
                  <a:pt x="2671334" y="3335192"/>
                </a:lnTo>
                <a:lnTo>
                  <a:pt x="2667726" y="3338153"/>
                </a:lnTo>
                <a:lnTo>
                  <a:pt x="2663826" y="3340759"/>
                </a:lnTo>
                <a:lnTo>
                  <a:pt x="2659925" y="3343365"/>
                </a:lnTo>
                <a:lnTo>
                  <a:pt x="2638073" y="3351426"/>
                </a:lnTo>
                <a:lnTo>
                  <a:pt x="2633473" y="3352341"/>
                </a:lnTo>
                <a:lnTo>
                  <a:pt x="2628828" y="3352798"/>
                </a:lnTo>
                <a:lnTo>
                  <a:pt x="2624137" y="3352799"/>
                </a:lnTo>
                <a:lnTo>
                  <a:pt x="71438" y="3352799"/>
                </a:lnTo>
                <a:lnTo>
                  <a:pt x="66747" y="3352798"/>
                </a:lnTo>
                <a:lnTo>
                  <a:pt x="62101" y="3352341"/>
                </a:lnTo>
                <a:lnTo>
                  <a:pt x="57501" y="3351425"/>
                </a:lnTo>
                <a:lnTo>
                  <a:pt x="52900" y="3350511"/>
                </a:lnTo>
                <a:lnTo>
                  <a:pt x="31748" y="3340759"/>
                </a:lnTo>
                <a:lnTo>
                  <a:pt x="27847" y="3338153"/>
                </a:lnTo>
                <a:lnTo>
                  <a:pt x="24239" y="3335192"/>
                </a:lnTo>
                <a:lnTo>
                  <a:pt x="20923" y="3331875"/>
                </a:lnTo>
                <a:lnTo>
                  <a:pt x="17607" y="3328559"/>
                </a:lnTo>
                <a:lnTo>
                  <a:pt x="1371" y="3295298"/>
                </a:lnTo>
                <a:lnTo>
                  <a:pt x="456" y="3290698"/>
                </a:lnTo>
                <a:lnTo>
                  <a:pt x="0" y="3286052"/>
                </a:lnTo>
                <a:lnTo>
                  <a:pt x="0" y="3281362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639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Hospital Website Auditing – Best Hospitals in India</vt:lpstr>
      <vt:lpstr>Project Outline This self-learning audit examined the top 3 hospital websites ranking for "Best Hospitals in India."</vt:lpstr>
      <vt:lpstr>Digital Vitals of Indian Healthcare websites</vt:lpstr>
      <vt:lpstr>Performance analysis</vt:lpstr>
      <vt:lpstr>Key Insights The audit revealed critical patterns across the healthcare digital landscape.</vt:lpstr>
      <vt:lpstr>Prescription Plan</vt:lpstr>
      <vt:lpstr>Digital diagnosis</vt:lpstr>
      <vt:lpstr>Thank you This website auditing exercise helped me understand performance metrics and SEO strengths.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Website Auditing – Best Hospitals in India</dc:title>
  <cp:lastModifiedBy>DEll</cp:lastModifiedBy>
  <cp:revision>1</cp:revision>
  <dcterms:created xsi:type="dcterms:W3CDTF">2025-09-27T03:49:53Z</dcterms:created>
  <dcterms:modified xsi:type="dcterms:W3CDTF">2025-09-27T03:53:38Z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2025-09-27T00:00:00Z</vt:filetime>
  </property>
  <property fmtid="{D5CDD505-2E9C-101B-9397-08002B2CF9AE}" pid="5" name="Producer">
    <vt:lpwstr>pdf-lib (https://github.com/Hopding/pdf-lib)</vt:lpwstr>
  </property>
</Properties>
</file>